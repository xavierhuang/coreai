
<file path=[Content_Types].xml><?xml version="1.0" encoding="utf-8"?>
<Types xmlns="http://schemas.openxmlformats.org/package/2006/content-types">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4"/>
  </p:notesMasterIdLst>
  <p:sldIdLst>
    <p:sldId id="256" r:id="rId3"/>
    <p:sldId id="257" r:id="rId5"/>
    <p:sldId id="258" r:id="rId6"/>
    <p:sldId id="259" r:id="rId7"/>
    <p:sldId id="260" r:id="rId8"/>
    <p:sldId id="261" r:id="rId9"/>
  </p:sldIdLst>
  <p:sldSz cx="1219136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 Type="http://schemas.openxmlformats.org/officeDocument/2006/relationships/theme" Target="theme/theme1.xml"/><Relationship Id="rId12" Type="http://schemas.openxmlformats.org/officeDocument/2006/relationships/tableStyles" Target="tableStyles.xml"/><Relationship Id="rId11" Type="http://schemas.openxmlformats.org/officeDocument/2006/relationships/viewProps" Target="viewProps.xml"/><Relationship Id="rId10" Type="http://schemas.openxmlformats.org/officeDocument/2006/relationships/presProps" Target="presProps.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fld>
            <a:endParaRPr lang="en-US"/>
          </a:p>
        </p:txBody>
      </p:sp>
    </p:spTree>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[~20 seconds] Open with the question every dev is quietly asking: can I actually replace ChatGPT with something on my laptop? Tonight I'm answering with real numbers from a 16 GB MacBook — the median dev machine, not some 96 GB monster. Five backends, same prompts.</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[~45 seconds] Quick credibility. I built a SwiftUI IDE that has all five backends side-by-side. Optional: flash the IDE for 2-3 seconds, show the picker. Don't dwell — the data slide is what matters. Move on.</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[~90 seconds] THE money slide. Walk left to right. Cloud Claude is the baseline — ~3 seconds for a real answer. Apple's on-device, also 3 seconds. qwen 1.5b coder via Ollama, 5-8 seconds, and it actually uses tools. Tiny qwen 0.6b, fast but dumb. Then point at the bottom row: deepseek 6.7B on a 16 GB Mac took 3 MINUTES for the same 'hello' prompt. Same hardware, same Ollama, same model format. Why? Next slide.</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[~60 seconds] The thing no review tells you. Apple Silicon's unified memory is great until you run out of it. When the model can't fit alongside everything else you have open, Ollama silently puts it on the CPU and you go from 'instant' to 'walk away and come back'. The rule: on a 16 GB Mac, stay at 3B parameters or below. Above that, you need 24 GB to be safe.</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[~90 seconds] The honest verdict. On 16 GB, on-device can't replace ChatGPT for general chat — yet. But for specialized tasks, privacy, and offline use, it's not just viable, it's BETTER than cloud. For long-context or hard reasoning, you still want cloud or Apple's PCC. The pattern in 2026 is hybrid — small fast on-device by default, cloud fallback for the hard stuff.</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[~30 seconds] Recap and stop. Four bullets: small models are fast on Apple Silicon, RAM is the binding constraint, hybrid is the real answer, test on median hardware. Open for questions. Total: ~5:35 leaving ~25s buffer.</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endParaRPr lang="en-US" smtClean="0"/>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5BCAD085-E8A6-8845-BD4E-CB4CCA059FC4}"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5BCAD085-E8A6-8845-BD4E-CB4CCA059FC4}"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panose="020B0604020202090204"/>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panose="020B0604020202090204"/>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panose="020B0604020202090204"/>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panose="020B0604020202090204"/>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panose="020B0604020202090204"/>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panose="020B0604020202090204"/>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panose="020B0604020202090204"/>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panose="020B0604020202090204"/>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panose="020B0604020202090204"/>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12191695" cy="6858000"/>
          </a:xfrm>
          <a:prstGeom prst="rect">
            <a:avLst/>
          </a:prstGeom>
          <a:solidFill>
            <a:srgbClr val="0B0F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371600"/>
            <a:ext cx="10972800" cy="914400"/>
          </a:xfrm>
          <a:prstGeom prst="rect">
            <a:avLst/>
          </a:prstGeom>
          <a:noFill/>
        </p:spPr>
        <p:txBody>
          <a:bodyPr wrap="square" lIns="0" tIns="0" rIns="0" bIns="0">
            <a:spAutoFit/>
          </a:bodyPr>
          <a:lstStyle/>
          <a:p>
            <a:pPr algn="l"/>
            <a:r>
              <a:rPr sz="6400" b="1">
                <a:solidFill>
                  <a:srgbClr val="ECEFF4"/>
                </a:solidFill>
                <a:latin typeface="Helvetica Neue" panose="02000503000000020004"/>
              </a:rPr>
              <a:t>How Much Can</a:t>
            </a:r>
            <a:endParaRPr sz="6400" b="1">
              <a:solidFill>
                <a:srgbClr val="ECEFF4"/>
              </a:solidFill>
              <a:latin typeface="Helvetica Neue" panose="02000503000000020004"/>
            </a:endParaRPr>
          </a:p>
        </p:txBody>
      </p:sp>
      <p:sp>
        <p:nvSpPr>
          <p:cNvPr id="4" name="TextBox 3"/>
          <p:cNvSpPr txBox="1"/>
          <p:nvPr/>
        </p:nvSpPr>
        <p:spPr>
          <a:xfrm>
            <a:off x="548640" y="2194560"/>
            <a:ext cx="10972800" cy="914400"/>
          </a:xfrm>
          <a:prstGeom prst="rect">
            <a:avLst/>
          </a:prstGeom>
          <a:noFill/>
        </p:spPr>
        <p:txBody>
          <a:bodyPr wrap="square" lIns="0" tIns="0" rIns="0" bIns="0">
            <a:spAutoFit/>
          </a:bodyPr>
          <a:lstStyle/>
          <a:p>
            <a:pPr algn="l"/>
            <a:r>
              <a:rPr sz="6400" b="1">
                <a:solidFill>
                  <a:srgbClr val="0A84FF"/>
                </a:solidFill>
                <a:latin typeface="Helvetica Neue" panose="02000503000000020004"/>
              </a:rPr>
              <a:t>On-Device AI</a:t>
            </a:r>
            <a:endParaRPr sz="6400" b="1">
              <a:solidFill>
                <a:srgbClr val="0A84FF"/>
              </a:solidFill>
              <a:latin typeface="Helvetica Neue" panose="02000503000000020004"/>
            </a:endParaRPr>
          </a:p>
        </p:txBody>
      </p:sp>
      <p:sp>
        <p:nvSpPr>
          <p:cNvPr id="5" name="TextBox 4"/>
          <p:cNvSpPr txBox="1"/>
          <p:nvPr/>
        </p:nvSpPr>
        <p:spPr>
          <a:xfrm>
            <a:off x="548640" y="3017520"/>
            <a:ext cx="10972800" cy="914400"/>
          </a:xfrm>
          <a:prstGeom prst="rect">
            <a:avLst/>
          </a:prstGeom>
          <a:noFill/>
        </p:spPr>
        <p:txBody>
          <a:bodyPr wrap="square" lIns="0" tIns="0" rIns="0" bIns="0">
            <a:spAutoFit/>
          </a:bodyPr>
          <a:lstStyle/>
          <a:p>
            <a:pPr algn="l"/>
            <a:r>
              <a:rPr sz="6400" b="1">
                <a:solidFill>
                  <a:srgbClr val="ECEFF4"/>
                </a:solidFill>
                <a:latin typeface="Helvetica Neue" panose="02000503000000020004"/>
              </a:rPr>
              <a:t>Do on a Mac?</a:t>
            </a:r>
            <a:endParaRPr sz="6400" b="1">
              <a:solidFill>
                <a:srgbClr val="ECEFF4"/>
              </a:solidFill>
              <a:latin typeface="Helvetica Neue" panose="02000503000000020004"/>
            </a:endParaRPr>
          </a:p>
        </p:txBody>
      </p:sp>
      <p:sp>
        <p:nvSpPr>
          <p:cNvPr id="6" name="TextBox 5"/>
          <p:cNvSpPr txBox="1"/>
          <p:nvPr/>
        </p:nvSpPr>
        <p:spPr>
          <a:xfrm>
            <a:off x="548640" y="4389120"/>
            <a:ext cx="10972800" cy="548640"/>
          </a:xfrm>
          <a:prstGeom prst="rect">
            <a:avLst/>
          </a:prstGeom>
          <a:noFill/>
        </p:spPr>
        <p:txBody>
          <a:bodyPr wrap="square" lIns="0" tIns="0" rIns="0" bIns="0">
            <a:spAutoFit/>
          </a:bodyPr>
          <a:lstStyle/>
          <a:p>
            <a:pPr algn="l"/>
            <a:r>
              <a:rPr sz="2000" b="0">
                <a:solidFill>
                  <a:srgbClr val="9AA4B2"/>
                </a:solidFill>
                <a:latin typeface="Helvetica Neue" panose="02000503000000020004"/>
              </a:rPr>
              <a:t>Hands-on data from a 16 GB MacBook · 5 backends compared</a:t>
            </a:r>
            <a:endParaRPr sz="2000" b="0">
              <a:solidFill>
                <a:srgbClr val="9AA4B2"/>
              </a:solidFill>
              <a:latin typeface="Helvetica Neue" panose="02000503000000020004"/>
            </a:endParaRPr>
          </a:p>
        </p:txBody>
      </p:sp>
      <p:sp>
        <p:nvSpPr>
          <p:cNvPr id="7" name="TextBox 6"/>
          <p:cNvSpPr txBox="1"/>
          <p:nvPr/>
        </p:nvSpPr>
        <p:spPr>
          <a:xfrm>
            <a:off x="548640" y="6035040"/>
            <a:ext cx="10972800" cy="365760"/>
          </a:xfrm>
          <a:prstGeom prst="rect">
            <a:avLst/>
          </a:prstGeom>
          <a:noFill/>
        </p:spPr>
        <p:txBody>
          <a:bodyPr wrap="square" lIns="0" tIns="0" rIns="0" bIns="0">
            <a:spAutoFit/>
          </a:bodyPr>
          <a:lstStyle/>
          <a:p>
            <a:pPr algn="l"/>
            <a:r>
              <a:rPr sz="1200" b="0">
                <a:solidFill>
                  <a:srgbClr val="9AA4B2"/>
                </a:solidFill>
                <a:latin typeface="Helvetica Neue" panose="02000503000000020004"/>
              </a:rPr>
              <a:t>6-minute lightning talk · 2026</a:t>
            </a:r>
            <a:endParaRPr sz="1200" b="0">
              <a:solidFill>
                <a:srgbClr val="9AA4B2"/>
              </a:solidFill>
              <a:latin typeface="Helvetica Neue" panose="02000503000000020004"/>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12191695" cy="6858000"/>
          </a:xfrm>
          <a:prstGeom prst="rect">
            <a:avLst/>
          </a:prstGeom>
          <a:solidFill>
            <a:srgbClr val="0B0F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02920"/>
            <a:ext cx="10972800" cy="731520"/>
          </a:xfrm>
          <a:prstGeom prst="rect">
            <a:avLst/>
          </a:prstGeom>
          <a:noFill/>
        </p:spPr>
        <p:txBody>
          <a:bodyPr wrap="square" lIns="0" tIns="0" rIns="0" bIns="0">
            <a:spAutoFit/>
          </a:bodyPr>
          <a:lstStyle/>
          <a:p>
            <a:pPr algn="l"/>
            <a:r>
              <a:rPr sz="3600" b="1">
                <a:solidFill>
                  <a:srgbClr val="ECEFF4"/>
                </a:solidFill>
                <a:latin typeface="Helvetica Neue" panose="02000503000000020004"/>
              </a:rPr>
              <a:t>My setup</a:t>
            </a:r>
            <a:endParaRPr sz="3600" b="1">
              <a:solidFill>
                <a:srgbClr val="ECEFF4"/>
              </a:solidFill>
              <a:latin typeface="Helvetica Neue" panose="02000503000000020004"/>
            </a:endParaRPr>
          </a:p>
        </p:txBody>
      </p:sp>
      <p:sp>
        <p:nvSpPr>
          <p:cNvPr id="4" name="Rectangle 3"/>
          <p:cNvSpPr/>
          <p:nvPr/>
        </p:nvSpPr>
        <p:spPr>
          <a:xfrm>
            <a:off x="548640" y="1280160"/>
            <a:ext cx="548640" cy="54864"/>
          </a:xfrm>
          <a:prstGeom prst="rect">
            <a:avLst/>
          </a:prstGeom>
          <a:solidFill>
            <a:srgbClr val="0A8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828800"/>
            <a:ext cx="10972800" cy="2743200"/>
          </a:xfrm>
          <a:prstGeom prst="rect">
            <a:avLst/>
          </a:prstGeom>
          <a:noFill/>
        </p:spPr>
        <p:txBody>
          <a:bodyPr wrap="square" lIns="0" rIns="0">
            <a:spAutoFit/>
          </a:bodyPr>
          <a:lstStyle/>
          <a:p>
            <a:pPr algn="l">
              <a:spcAft>
                <a:spcPts val="1400"/>
              </a:spcAft>
            </a:pPr>
            <a:r>
              <a:rPr sz="2200">
                <a:solidFill>
                  <a:srgbClr val="ECEFF4"/>
                </a:solidFill>
                <a:latin typeface="Helvetica Neue" panose="02000503000000020004"/>
              </a:rPr>
              <a:t>•  16 GB MacBook · macOS 26.5 (Tahoe-class)</a:t>
            </a:r>
            <a:endParaRPr sz="2200">
              <a:solidFill>
                <a:srgbClr val="ECEFF4"/>
              </a:solidFill>
              <a:latin typeface="Helvetica Neue" panose="02000503000000020004"/>
            </a:endParaRPr>
          </a:p>
          <a:p>
            <a:pPr algn="l">
              <a:spcAft>
                <a:spcPts val="1400"/>
              </a:spcAft>
            </a:pPr>
            <a:r>
              <a:rPr sz="2200">
                <a:solidFill>
                  <a:srgbClr val="ECEFF4"/>
                </a:solidFill>
                <a:latin typeface="Helvetica Neue" panose="02000503000000020004"/>
              </a:rPr>
              <a:t>•  Built a SwiftUI IDE with 5 swappable AI backends in one picker</a:t>
            </a:r>
            <a:endParaRPr sz="2200">
              <a:solidFill>
                <a:srgbClr val="ECEFF4"/>
              </a:solidFill>
              <a:latin typeface="Helvetica Neue" panose="02000503000000020004"/>
            </a:endParaRPr>
          </a:p>
          <a:p>
            <a:pPr algn="l">
              <a:spcAft>
                <a:spcPts val="1400"/>
              </a:spcAft>
            </a:pPr>
            <a:r>
              <a:rPr sz="2200">
                <a:solidFill>
                  <a:srgbClr val="ECEFF4"/>
                </a:solidFill>
                <a:latin typeface="Helvetica Neue" panose="02000503000000020004"/>
              </a:rPr>
              <a:t>•  Claude (cloud) · Apple Intelligence · Apple PCC · Ollama · Core AI</a:t>
            </a:r>
            <a:endParaRPr sz="2200">
              <a:solidFill>
                <a:srgbClr val="ECEFF4"/>
              </a:solidFill>
              <a:latin typeface="Helvetica Neue" panose="02000503000000020004"/>
            </a:endParaRPr>
          </a:p>
          <a:p>
            <a:pPr algn="l">
              <a:spcAft>
                <a:spcPts val="1400"/>
              </a:spcAft>
            </a:pPr>
            <a:r>
              <a:rPr sz="2200">
                <a:solidFill>
                  <a:srgbClr val="ECEFF4"/>
                </a:solidFill>
                <a:latin typeface="Helvetica Neue" panose="02000503000000020004"/>
              </a:rPr>
              <a:t>•  Same prompts, same project folder — apples-to-apples</a:t>
            </a:r>
            <a:endParaRPr sz="2200">
              <a:solidFill>
                <a:srgbClr val="ECEFF4"/>
              </a:solidFill>
              <a:latin typeface="Helvetica Neue" panose="02000503000000020004"/>
            </a:endParaRPr>
          </a:p>
        </p:txBody>
      </p:sp>
      <p:sp>
        <p:nvSpPr>
          <p:cNvPr id="6" name="TextBox 5"/>
          <p:cNvSpPr txBox="1"/>
          <p:nvPr/>
        </p:nvSpPr>
        <p:spPr>
          <a:xfrm>
            <a:off x="640080" y="5852160"/>
            <a:ext cx="10972800" cy="457200"/>
          </a:xfrm>
          <a:prstGeom prst="rect">
            <a:avLst/>
          </a:prstGeom>
          <a:noFill/>
        </p:spPr>
        <p:txBody>
          <a:bodyPr wrap="square" lIns="0" tIns="0" rIns="0" bIns="0">
            <a:spAutoFit/>
          </a:bodyPr>
          <a:lstStyle/>
          <a:p>
            <a:pPr algn="l"/>
            <a:r>
              <a:rPr sz="1800" b="1">
                <a:solidFill>
                  <a:srgbClr val="0A84FF"/>
                </a:solidFill>
                <a:latin typeface="Helvetica Neue" panose="02000503000000020004"/>
              </a:rPr>
              <a:t>→ Lets me ask the same question through every available stack and time it.</a:t>
            </a:r>
            <a:endParaRPr sz="1800" b="1">
              <a:solidFill>
                <a:srgbClr val="0A84FF"/>
              </a:solidFill>
              <a:latin typeface="Helvetica Neue" panose="02000503000000020004"/>
            </a:endParaRPr>
          </a:p>
        </p:txBody>
      </p:sp>
      <p:sp>
        <p:nvSpPr>
          <p:cNvPr id="7" name="TextBox 6"/>
          <p:cNvSpPr txBox="1"/>
          <p:nvPr/>
        </p:nvSpPr>
        <p:spPr>
          <a:xfrm>
            <a:off x="548640" y="6492240"/>
            <a:ext cx="10058400" cy="274320"/>
          </a:xfrm>
          <a:prstGeom prst="rect">
            <a:avLst/>
          </a:prstGeom>
          <a:noFill/>
        </p:spPr>
        <p:txBody>
          <a:bodyPr wrap="square" lIns="0" tIns="0" rIns="0" bIns="0">
            <a:spAutoFit/>
          </a:bodyPr>
          <a:lstStyle/>
          <a:p>
            <a:pPr algn="l"/>
            <a:r>
              <a:rPr sz="1000" b="0">
                <a:solidFill>
                  <a:srgbClr val="9AA4B2"/>
                </a:solidFill>
                <a:latin typeface="Helvetica Neue" panose="02000503000000020004"/>
              </a:rPr>
              <a:t>How Much Can On-Device AI Do on a Mac?</a:t>
            </a:r>
            <a:endParaRPr sz="1000" b="0">
              <a:solidFill>
                <a:srgbClr val="9AA4B2"/>
              </a:solidFill>
              <a:latin typeface="Helvetica Neue" panose="02000503000000020004"/>
            </a:endParaRPr>
          </a:p>
        </p:txBody>
      </p:sp>
      <p:sp>
        <p:nvSpPr>
          <p:cNvPr id="8" name="TextBox 7"/>
          <p:cNvSpPr txBox="1"/>
          <p:nvPr/>
        </p:nvSpPr>
        <p:spPr>
          <a:xfrm>
            <a:off x="10698480" y="6492240"/>
            <a:ext cx="914400" cy="274320"/>
          </a:xfrm>
          <a:prstGeom prst="rect">
            <a:avLst/>
          </a:prstGeom>
          <a:noFill/>
        </p:spPr>
        <p:txBody>
          <a:bodyPr wrap="square" lIns="0" tIns="0" rIns="0" bIns="0">
            <a:spAutoFit/>
          </a:bodyPr>
          <a:lstStyle/>
          <a:p>
            <a:pPr algn="r"/>
            <a:r>
              <a:rPr sz="1000" b="0">
                <a:solidFill>
                  <a:srgbClr val="9AA4B2"/>
                </a:solidFill>
                <a:latin typeface="Helvetica Neue" panose="02000503000000020004"/>
              </a:rPr>
              <a:t>2 / 6</a:t>
            </a:r>
            <a:endParaRPr sz="1000" b="0">
              <a:solidFill>
                <a:srgbClr val="9AA4B2"/>
              </a:solidFill>
              <a:latin typeface="Helvetica Neue" panose="02000503000000020004"/>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12191695" cy="6858000"/>
          </a:xfrm>
          <a:prstGeom prst="rect">
            <a:avLst/>
          </a:prstGeom>
          <a:solidFill>
            <a:srgbClr val="0B0F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02920"/>
            <a:ext cx="10972800" cy="731520"/>
          </a:xfrm>
          <a:prstGeom prst="rect">
            <a:avLst/>
          </a:prstGeom>
          <a:noFill/>
        </p:spPr>
        <p:txBody>
          <a:bodyPr wrap="square" lIns="0" tIns="0" rIns="0" bIns="0">
            <a:spAutoFit/>
          </a:bodyPr>
          <a:lstStyle/>
          <a:p>
            <a:pPr algn="l"/>
            <a:r>
              <a:rPr sz="3600" b="1">
                <a:solidFill>
                  <a:srgbClr val="ECEFF4"/>
                </a:solidFill>
                <a:latin typeface="Helvetica Neue" panose="02000503000000020004"/>
              </a:rPr>
              <a:t>Speed reality — same prompt, 5 backends</a:t>
            </a:r>
            <a:endParaRPr sz="3600" b="1">
              <a:solidFill>
                <a:srgbClr val="ECEFF4"/>
              </a:solidFill>
              <a:latin typeface="Helvetica Neue" panose="02000503000000020004"/>
            </a:endParaRPr>
          </a:p>
        </p:txBody>
      </p:sp>
      <p:sp>
        <p:nvSpPr>
          <p:cNvPr id="4" name="Rectangle 3"/>
          <p:cNvSpPr/>
          <p:nvPr/>
        </p:nvSpPr>
        <p:spPr>
          <a:xfrm>
            <a:off x="548640" y="1280160"/>
            <a:ext cx="548640" cy="54864"/>
          </a:xfrm>
          <a:prstGeom prst="rect">
            <a:avLst/>
          </a:prstGeom>
          <a:solidFill>
            <a:srgbClr val="32D7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5" name="Table 4"/>
          <p:cNvGraphicFramePr>
            <a:graphicFrameLocks noGrp="1"/>
          </p:cNvGraphicFramePr>
          <p:nvPr/>
        </p:nvGraphicFramePr>
        <p:xfrm>
          <a:off x="274320" y="1737360"/>
          <a:ext cx="11612880" cy="3474720"/>
        </p:xfrm>
        <a:graphic>
          <a:graphicData uri="http://schemas.openxmlformats.org/drawingml/2006/table">
            <a:tbl>
              <a:tblPr firstRow="1" bandRow="1">
                <a:tableStyleId>{5C22544A-7EE6-4342-B048-85BDC9FD1C3A}</a:tableStyleId>
              </a:tblPr>
              <a:tblGrid>
                <a:gridCol w="2322576"/>
                <a:gridCol w="2322576"/>
                <a:gridCol w="2322576"/>
                <a:gridCol w="2322576"/>
                <a:gridCol w="2322576"/>
              </a:tblGrid>
              <a:tr h="579120">
                <a:tc>
                  <a:txBody>
                    <a:bodyPr/>
                    <a:lstStyle/>
                    <a:p>
                      <a:pPr algn="l"/>
                      <a:r>
                        <a:rPr sz="1500" b="1">
                          <a:solidFill>
                            <a:srgbClr val="0B0F14"/>
                          </a:solidFill>
                          <a:latin typeface="Helvetica Neue" panose="02000503000000020004"/>
                        </a:rPr>
                        <a:t>Backend</a:t>
                      </a:r>
                      <a:endParaRPr sz="1500" b="1">
                        <a:solidFill>
                          <a:srgbClr val="0B0F14"/>
                        </a:solidFill>
                        <a:latin typeface="Helvetica Neue" panose="02000503000000020004"/>
                      </a:endParaRPr>
                    </a:p>
                  </a:txBody>
                  <a:tcPr marT="36576" marB="36576">
                    <a:solidFill>
                      <a:srgbClr val="32D74D"/>
                    </a:solidFill>
                  </a:tcPr>
                </a:tc>
                <a:tc>
                  <a:txBody>
                    <a:bodyPr/>
                    <a:lstStyle/>
                    <a:p>
                      <a:pPr algn="l"/>
                      <a:r>
                        <a:rPr sz="1500" b="1">
                          <a:solidFill>
                            <a:srgbClr val="0B0F14"/>
                          </a:solidFill>
                          <a:latin typeface="Helvetica Neue" panose="02000503000000020004"/>
                        </a:rPr>
                        <a:t>First-token</a:t>
                      </a:r>
                      <a:endParaRPr sz="1500" b="1">
                        <a:solidFill>
                          <a:srgbClr val="0B0F14"/>
                        </a:solidFill>
                        <a:latin typeface="Helvetica Neue" panose="02000503000000020004"/>
                      </a:endParaRPr>
                    </a:p>
                  </a:txBody>
                  <a:tcPr marT="36576" marB="36576">
                    <a:solidFill>
                      <a:srgbClr val="32D74D"/>
                    </a:solidFill>
                  </a:tcPr>
                </a:tc>
                <a:tc>
                  <a:txBody>
                    <a:bodyPr/>
                    <a:lstStyle/>
                    <a:p>
                      <a:pPr algn="l"/>
                      <a:r>
                        <a:rPr sz="1500" b="1">
                          <a:solidFill>
                            <a:srgbClr val="0B0F14"/>
                          </a:solidFill>
                          <a:latin typeface="Helvetica Neue" panose="02000503000000020004"/>
                        </a:rPr>
                        <a:t>Total reply</a:t>
                      </a:r>
                      <a:endParaRPr sz="1500" b="1">
                        <a:solidFill>
                          <a:srgbClr val="0B0F14"/>
                        </a:solidFill>
                        <a:latin typeface="Helvetica Neue" panose="02000503000000020004"/>
                      </a:endParaRPr>
                    </a:p>
                  </a:txBody>
                  <a:tcPr marT="36576" marB="36576">
                    <a:solidFill>
                      <a:srgbClr val="32D74D"/>
                    </a:solidFill>
                  </a:tcPr>
                </a:tc>
                <a:tc>
                  <a:txBody>
                    <a:bodyPr/>
                    <a:lstStyle/>
                    <a:p>
                      <a:pPr algn="l"/>
                      <a:r>
                        <a:rPr sz="1500" b="1">
                          <a:solidFill>
                            <a:srgbClr val="0B0F14"/>
                          </a:solidFill>
                          <a:latin typeface="Helvetica Neue" panose="02000503000000020004"/>
                        </a:rPr>
                        <a:t>Quality</a:t>
                      </a:r>
                      <a:endParaRPr sz="1500" b="1">
                        <a:solidFill>
                          <a:srgbClr val="0B0F14"/>
                        </a:solidFill>
                        <a:latin typeface="Helvetica Neue" panose="02000503000000020004"/>
                      </a:endParaRPr>
                    </a:p>
                  </a:txBody>
                  <a:tcPr marT="36576" marB="36576">
                    <a:solidFill>
                      <a:srgbClr val="32D74D"/>
                    </a:solidFill>
                  </a:tcPr>
                </a:tc>
                <a:tc>
                  <a:txBody>
                    <a:bodyPr/>
                    <a:lstStyle/>
                    <a:p>
                      <a:pPr algn="l"/>
                      <a:r>
                        <a:rPr sz="1500" b="1">
                          <a:solidFill>
                            <a:srgbClr val="0B0F14"/>
                          </a:solidFill>
                          <a:latin typeface="Helvetica Neue" panose="02000503000000020004"/>
                        </a:rPr>
                        <a:t>Runs on</a:t>
                      </a:r>
                      <a:endParaRPr sz="1500" b="1">
                        <a:solidFill>
                          <a:srgbClr val="0B0F14"/>
                        </a:solidFill>
                        <a:latin typeface="Helvetica Neue" panose="02000503000000020004"/>
                      </a:endParaRPr>
                    </a:p>
                  </a:txBody>
                  <a:tcPr marT="36576" marB="36576">
                    <a:solidFill>
                      <a:srgbClr val="32D74D"/>
                    </a:solidFill>
                  </a:tcPr>
                </a:tc>
              </a:tr>
              <a:tr h="579120">
                <a:tc>
                  <a:txBody>
                    <a:bodyPr/>
                    <a:lstStyle/>
                    <a:p>
                      <a:pPr algn="l"/>
                      <a:r>
                        <a:rPr sz="1400" b="0">
                          <a:solidFill>
                            <a:srgbClr val="ECEFF4"/>
                          </a:solidFill>
                          <a:latin typeface="Helvetica Neue" panose="02000503000000020004"/>
                        </a:rPr>
                        <a:t>Claude Sonnet (cloud)</a:t>
                      </a:r>
                      <a:endParaRPr sz="1400" b="0">
                        <a:solidFill>
                          <a:srgbClr val="ECEFF4"/>
                        </a:solidFill>
                        <a:latin typeface="Helvetica Neue" panose="02000503000000020004"/>
                      </a:endParaRPr>
                    </a:p>
                  </a:txBody>
                  <a:tcPr marT="36576" marB="36576">
                    <a:solidFill>
                      <a:srgbClr val="141A22"/>
                    </a:solidFill>
                  </a:tcPr>
                </a:tc>
                <a:tc>
                  <a:txBody>
                    <a:bodyPr/>
                    <a:lstStyle/>
                    <a:p>
                      <a:pPr algn="l"/>
                      <a:r>
                        <a:rPr sz="1400" b="0">
                          <a:solidFill>
                            <a:srgbClr val="ECEFF4"/>
                          </a:solidFill>
                          <a:latin typeface="Helvetica Neue" panose="02000503000000020004"/>
                        </a:rPr>
                        <a:t>~600 ms</a:t>
                      </a:r>
                      <a:endParaRPr sz="1400" b="0">
                        <a:solidFill>
                          <a:srgbClr val="ECEFF4"/>
                        </a:solidFill>
                        <a:latin typeface="Helvetica Neue" panose="02000503000000020004"/>
                      </a:endParaRPr>
                    </a:p>
                  </a:txBody>
                  <a:tcPr marT="36576" marB="36576">
                    <a:solidFill>
                      <a:srgbClr val="141A22"/>
                    </a:solidFill>
                  </a:tcPr>
                </a:tc>
                <a:tc>
                  <a:txBody>
                    <a:bodyPr/>
                    <a:lstStyle/>
                    <a:p>
                      <a:pPr algn="l"/>
                      <a:r>
                        <a:rPr sz="1400" b="0">
                          <a:solidFill>
                            <a:schemeClr val="tx1"/>
                          </a:solidFill>
                          <a:latin typeface="Helvetica Neue" panose="02000503000000020004"/>
                        </a:rPr>
                        <a:t>~3 s</a:t>
                      </a:r>
                      <a:endParaRPr sz="1400" b="0">
                        <a:solidFill>
                          <a:schemeClr val="tx1"/>
                        </a:solidFill>
                        <a:latin typeface="Helvetica Neue" panose="02000503000000020004"/>
                      </a:endParaRPr>
                    </a:p>
                  </a:txBody>
                  <a:tcPr marT="36576" marB="36576">
                    <a:solidFill>
                      <a:srgbClr val="141A22"/>
                    </a:solidFill>
                  </a:tcPr>
                </a:tc>
                <a:tc>
                  <a:txBody>
                    <a:bodyPr/>
                    <a:lstStyle/>
                    <a:p>
                      <a:pPr algn="l"/>
                      <a:r>
                        <a:rPr sz="1400" b="0">
                          <a:solidFill>
                            <a:schemeClr val="tx1"/>
                          </a:solidFill>
                          <a:latin typeface="Helvetica Neue" panose="02000503000000020004"/>
                        </a:rPr>
                        <a:t>Excellent</a:t>
                      </a:r>
                      <a:endParaRPr sz="1400" b="0">
                        <a:solidFill>
                          <a:schemeClr val="tx1"/>
                        </a:solidFill>
                        <a:latin typeface="Helvetica Neue" panose="02000503000000020004"/>
                      </a:endParaRPr>
                    </a:p>
                  </a:txBody>
                  <a:tcPr marT="36576" marB="36576">
                    <a:solidFill>
                      <a:srgbClr val="32D74D"/>
                    </a:solidFill>
                  </a:tcPr>
                </a:tc>
                <a:tc>
                  <a:txBody>
                    <a:bodyPr/>
                    <a:lstStyle/>
                    <a:p>
                      <a:pPr algn="l"/>
                      <a:r>
                        <a:rPr sz="1400" b="0">
                          <a:solidFill>
                            <a:schemeClr val="tx1"/>
                          </a:solidFill>
                          <a:latin typeface="Helvetica Neue" panose="02000503000000020004"/>
                        </a:rPr>
                        <a:t>Anthropic</a:t>
                      </a:r>
                      <a:endParaRPr sz="1400" b="0">
                        <a:solidFill>
                          <a:schemeClr val="tx1"/>
                        </a:solidFill>
                        <a:latin typeface="Helvetica Neue" panose="02000503000000020004"/>
                      </a:endParaRPr>
                    </a:p>
                  </a:txBody>
                  <a:tcPr marT="36576" marB="36576">
                    <a:solidFill>
                      <a:srgbClr val="9AA4B2"/>
                    </a:solidFill>
                  </a:tcPr>
                </a:tc>
              </a:tr>
              <a:tr h="579120">
                <a:tc>
                  <a:txBody>
                    <a:bodyPr/>
                    <a:lstStyle/>
                    <a:p>
                      <a:pPr algn="l"/>
                      <a:r>
                        <a:rPr sz="1400" b="0">
                          <a:solidFill>
                            <a:srgbClr val="ECEFF4"/>
                          </a:solidFill>
                          <a:latin typeface="Helvetica Neue" panose="02000503000000020004"/>
                        </a:rPr>
                        <a:t>Apple Intelligence (~3B on-device)</a:t>
                      </a:r>
                      <a:endParaRPr sz="1400" b="0">
                        <a:solidFill>
                          <a:srgbClr val="ECEFF4"/>
                        </a:solidFill>
                        <a:latin typeface="Helvetica Neue" panose="02000503000000020004"/>
                      </a:endParaRPr>
                    </a:p>
                  </a:txBody>
                  <a:tcPr marT="36576" marB="36576">
                    <a:solidFill>
                      <a:srgbClr val="1A222C"/>
                    </a:solidFill>
                  </a:tcPr>
                </a:tc>
                <a:tc>
                  <a:txBody>
                    <a:bodyPr/>
                    <a:lstStyle/>
                    <a:p>
                      <a:pPr algn="l"/>
                      <a:r>
                        <a:rPr sz="1400" b="0">
                          <a:solidFill>
                            <a:srgbClr val="ECEFF4"/>
                          </a:solidFill>
                          <a:latin typeface="Helvetica Neue" panose="02000503000000020004"/>
                        </a:rPr>
                        <a:t>~400 ms</a:t>
                      </a:r>
                      <a:endParaRPr sz="1400" b="0">
                        <a:solidFill>
                          <a:srgbClr val="ECEFF4"/>
                        </a:solidFill>
                        <a:latin typeface="Helvetica Neue" panose="02000503000000020004"/>
                      </a:endParaRPr>
                    </a:p>
                  </a:txBody>
                  <a:tcPr marT="36576" marB="36576">
                    <a:solidFill>
                      <a:srgbClr val="1A222C"/>
                    </a:solidFill>
                  </a:tcPr>
                </a:tc>
                <a:tc>
                  <a:txBody>
                    <a:bodyPr/>
                    <a:lstStyle/>
                    <a:p>
                      <a:pPr algn="l"/>
                      <a:r>
                        <a:rPr sz="1400" b="0">
                          <a:solidFill>
                            <a:schemeClr val="tx1"/>
                          </a:solidFill>
                          <a:latin typeface="Helvetica Neue" panose="02000503000000020004"/>
                        </a:rPr>
                        <a:t>~3 s</a:t>
                      </a:r>
                      <a:endParaRPr sz="1400" b="0">
                        <a:solidFill>
                          <a:schemeClr val="tx1"/>
                        </a:solidFill>
                        <a:latin typeface="Helvetica Neue" panose="02000503000000020004"/>
                      </a:endParaRPr>
                    </a:p>
                  </a:txBody>
                  <a:tcPr marT="36576" marB="36576">
                    <a:solidFill>
                      <a:srgbClr val="1A222C"/>
                    </a:solidFill>
                  </a:tcPr>
                </a:tc>
                <a:tc>
                  <a:txBody>
                    <a:bodyPr/>
                    <a:lstStyle/>
                    <a:p>
                      <a:pPr algn="l"/>
                      <a:r>
                        <a:rPr sz="1400" b="0">
                          <a:solidFill>
                            <a:schemeClr val="tx1"/>
                          </a:solidFill>
                          <a:latin typeface="Helvetica Neue" panose="02000503000000020004"/>
                        </a:rPr>
                        <a:t>Decent</a:t>
                      </a:r>
                      <a:endParaRPr sz="1400" b="0">
                        <a:solidFill>
                          <a:schemeClr val="tx1"/>
                        </a:solidFill>
                        <a:latin typeface="Helvetica Neue" panose="02000503000000020004"/>
                      </a:endParaRPr>
                    </a:p>
                  </a:txBody>
                  <a:tcPr marT="36576" marB="36576">
                    <a:solidFill>
                      <a:srgbClr val="FFD60A"/>
                    </a:solidFill>
                  </a:tcPr>
                </a:tc>
                <a:tc>
                  <a:txBody>
                    <a:bodyPr/>
                    <a:lstStyle/>
                    <a:p>
                      <a:pPr algn="l"/>
                      <a:r>
                        <a:rPr sz="1400" b="0">
                          <a:solidFill>
                            <a:schemeClr val="tx1"/>
                          </a:solidFill>
                          <a:latin typeface="Helvetica Neue" panose="02000503000000020004"/>
                        </a:rPr>
                        <a:t>ANE + Metal</a:t>
                      </a:r>
                      <a:endParaRPr sz="1400" b="0">
                        <a:solidFill>
                          <a:schemeClr val="tx1"/>
                        </a:solidFill>
                        <a:latin typeface="Helvetica Neue" panose="02000503000000020004"/>
                      </a:endParaRPr>
                    </a:p>
                  </a:txBody>
                  <a:tcPr marT="36576" marB="36576">
                    <a:solidFill>
                      <a:srgbClr val="0A84FF"/>
                    </a:solidFill>
                  </a:tcPr>
                </a:tc>
              </a:tr>
              <a:tr h="579120">
                <a:tc>
                  <a:txBody>
                    <a:bodyPr/>
                    <a:lstStyle/>
                    <a:p>
                      <a:pPr algn="l"/>
                      <a:r>
                        <a:rPr sz="1400" b="0">
                          <a:solidFill>
                            <a:srgbClr val="ECEFF4"/>
                          </a:solidFill>
                          <a:latin typeface="Helvetica Neue" panose="02000503000000020004"/>
                        </a:rPr>
                        <a:t>qwen2.5-coder:1.5b (Ollama)</a:t>
                      </a:r>
                      <a:endParaRPr sz="1400" b="0">
                        <a:solidFill>
                          <a:srgbClr val="ECEFF4"/>
                        </a:solidFill>
                        <a:latin typeface="Helvetica Neue" panose="02000503000000020004"/>
                      </a:endParaRPr>
                    </a:p>
                  </a:txBody>
                  <a:tcPr marT="36576" marB="36576">
                    <a:solidFill>
                      <a:srgbClr val="141A22"/>
                    </a:solidFill>
                  </a:tcPr>
                </a:tc>
                <a:tc>
                  <a:txBody>
                    <a:bodyPr/>
                    <a:lstStyle/>
                    <a:p>
                      <a:pPr algn="l"/>
                      <a:r>
                        <a:rPr sz="1400" b="0">
                          <a:solidFill>
                            <a:srgbClr val="ECEFF4"/>
                          </a:solidFill>
                          <a:latin typeface="Helvetica Neue" panose="02000503000000020004"/>
                        </a:rPr>
                        <a:t>~1.5 s</a:t>
                      </a:r>
                      <a:endParaRPr sz="1400" b="0">
                        <a:solidFill>
                          <a:srgbClr val="ECEFF4"/>
                        </a:solidFill>
                        <a:latin typeface="Helvetica Neue" panose="02000503000000020004"/>
                      </a:endParaRPr>
                    </a:p>
                  </a:txBody>
                  <a:tcPr marT="36576" marB="36576">
                    <a:solidFill>
                      <a:srgbClr val="141A22"/>
                    </a:solidFill>
                  </a:tcPr>
                </a:tc>
                <a:tc>
                  <a:txBody>
                    <a:bodyPr/>
                    <a:lstStyle/>
                    <a:p>
                      <a:pPr algn="l"/>
                      <a:r>
                        <a:rPr sz="1400" b="0">
                          <a:solidFill>
                            <a:schemeClr val="tx1"/>
                          </a:solidFill>
                          <a:latin typeface="Helvetica Neue" panose="02000503000000020004"/>
                        </a:rPr>
                        <a:t>~5–8 s</a:t>
                      </a:r>
                      <a:endParaRPr sz="1400" b="0">
                        <a:solidFill>
                          <a:schemeClr val="tx1"/>
                        </a:solidFill>
                        <a:latin typeface="Helvetica Neue" panose="02000503000000020004"/>
                      </a:endParaRPr>
                    </a:p>
                  </a:txBody>
                  <a:tcPr marT="36576" marB="36576">
                    <a:solidFill>
                      <a:srgbClr val="141A22"/>
                    </a:solidFill>
                  </a:tcPr>
                </a:tc>
                <a:tc>
                  <a:txBody>
                    <a:bodyPr/>
                    <a:lstStyle/>
                    <a:p>
                      <a:pPr algn="l"/>
                      <a:r>
                        <a:rPr sz="1400" b="0">
                          <a:solidFill>
                            <a:schemeClr val="tx1"/>
                          </a:solidFill>
                          <a:latin typeface="Helvetica Neue" panose="02000503000000020004"/>
                        </a:rPr>
                        <a:t>Good</a:t>
                      </a:r>
                      <a:endParaRPr sz="1400" b="0">
                        <a:solidFill>
                          <a:schemeClr val="tx1"/>
                        </a:solidFill>
                        <a:latin typeface="Helvetica Neue" panose="02000503000000020004"/>
                      </a:endParaRPr>
                    </a:p>
                  </a:txBody>
                  <a:tcPr marT="36576" marB="36576">
                    <a:solidFill>
                      <a:srgbClr val="32D74D"/>
                    </a:solidFill>
                  </a:tcPr>
                </a:tc>
                <a:tc>
                  <a:txBody>
                    <a:bodyPr/>
                    <a:lstStyle/>
                    <a:p>
                      <a:pPr algn="l"/>
                      <a:r>
                        <a:rPr sz="1400" b="0">
                          <a:solidFill>
                            <a:schemeClr val="tx1"/>
                          </a:solidFill>
                          <a:latin typeface="Helvetica Neue" panose="02000503000000020004"/>
                        </a:rPr>
                        <a:t>Metal</a:t>
                      </a:r>
                      <a:endParaRPr sz="1400" b="0">
                        <a:solidFill>
                          <a:schemeClr val="tx1"/>
                        </a:solidFill>
                        <a:latin typeface="Helvetica Neue" panose="02000503000000020004"/>
                      </a:endParaRPr>
                    </a:p>
                  </a:txBody>
                  <a:tcPr marT="36576" marB="36576">
                    <a:solidFill>
                      <a:srgbClr val="32D74D"/>
                    </a:solidFill>
                  </a:tcPr>
                </a:tc>
              </a:tr>
              <a:tr h="579120">
                <a:tc>
                  <a:txBody>
                    <a:bodyPr/>
                    <a:lstStyle/>
                    <a:p>
                      <a:pPr algn="l"/>
                      <a:r>
                        <a:rPr sz="1400" b="0">
                          <a:solidFill>
                            <a:srgbClr val="ECEFF4"/>
                          </a:solidFill>
                          <a:latin typeface="Helvetica Neue" panose="02000503000000020004"/>
                        </a:rPr>
                        <a:t>qwen3:0.6b (Ollama)</a:t>
                      </a:r>
                      <a:endParaRPr sz="1400" b="0">
                        <a:solidFill>
                          <a:srgbClr val="ECEFF4"/>
                        </a:solidFill>
                        <a:latin typeface="Helvetica Neue" panose="02000503000000020004"/>
                      </a:endParaRPr>
                    </a:p>
                  </a:txBody>
                  <a:tcPr marT="36576" marB="36576">
                    <a:solidFill>
                      <a:srgbClr val="1A222C"/>
                    </a:solidFill>
                  </a:tcPr>
                </a:tc>
                <a:tc>
                  <a:txBody>
                    <a:bodyPr/>
                    <a:lstStyle/>
                    <a:p>
                      <a:pPr algn="l"/>
                      <a:r>
                        <a:rPr sz="1400" b="0">
                          <a:solidFill>
                            <a:srgbClr val="ECEFF4"/>
                          </a:solidFill>
                          <a:latin typeface="Helvetica Neue" panose="02000503000000020004"/>
                        </a:rPr>
                        <a:t>~800 ms</a:t>
                      </a:r>
                      <a:endParaRPr sz="1400" b="0">
                        <a:solidFill>
                          <a:srgbClr val="ECEFF4"/>
                        </a:solidFill>
                        <a:latin typeface="Helvetica Neue" panose="02000503000000020004"/>
                      </a:endParaRPr>
                    </a:p>
                  </a:txBody>
                  <a:tcPr marT="36576" marB="36576">
                    <a:solidFill>
                      <a:srgbClr val="1A222C"/>
                    </a:solidFill>
                  </a:tcPr>
                </a:tc>
                <a:tc>
                  <a:txBody>
                    <a:bodyPr/>
                    <a:lstStyle/>
                    <a:p>
                      <a:pPr algn="l"/>
                      <a:r>
                        <a:rPr sz="1400" b="0">
                          <a:solidFill>
                            <a:schemeClr val="tx1"/>
                          </a:solidFill>
                          <a:latin typeface="Helvetica Neue" panose="02000503000000020004"/>
                        </a:rPr>
                        <a:t>~3 s</a:t>
                      </a:r>
                      <a:endParaRPr sz="1400" b="0">
                        <a:solidFill>
                          <a:schemeClr val="tx1"/>
                        </a:solidFill>
                        <a:latin typeface="Helvetica Neue" panose="02000503000000020004"/>
                      </a:endParaRPr>
                    </a:p>
                  </a:txBody>
                  <a:tcPr marT="36576" marB="36576">
                    <a:solidFill>
                      <a:srgbClr val="1A222C"/>
                    </a:solidFill>
                  </a:tcPr>
                </a:tc>
                <a:tc>
                  <a:txBody>
                    <a:bodyPr/>
                    <a:lstStyle/>
                    <a:p>
                      <a:pPr algn="l"/>
                      <a:r>
                        <a:rPr sz="1400" b="0">
                          <a:solidFill>
                            <a:schemeClr val="tx1"/>
                          </a:solidFill>
                          <a:latin typeface="Helvetica Neue" panose="02000503000000020004"/>
                        </a:rPr>
                        <a:t>Mediocre</a:t>
                      </a:r>
                      <a:endParaRPr sz="1400" b="0">
                        <a:solidFill>
                          <a:schemeClr val="tx1"/>
                        </a:solidFill>
                        <a:latin typeface="Helvetica Neue" panose="02000503000000020004"/>
                      </a:endParaRPr>
                    </a:p>
                  </a:txBody>
                  <a:tcPr marT="36576" marB="36576">
                    <a:solidFill>
                      <a:srgbClr val="FFD60A"/>
                    </a:solidFill>
                  </a:tcPr>
                </a:tc>
                <a:tc>
                  <a:txBody>
                    <a:bodyPr/>
                    <a:lstStyle/>
                    <a:p>
                      <a:pPr algn="l"/>
                      <a:r>
                        <a:rPr sz="1400" b="0">
                          <a:solidFill>
                            <a:schemeClr val="tx1"/>
                          </a:solidFill>
                          <a:latin typeface="Helvetica Neue" panose="02000503000000020004"/>
                        </a:rPr>
                        <a:t>Metal</a:t>
                      </a:r>
                      <a:endParaRPr sz="1400" b="0">
                        <a:solidFill>
                          <a:schemeClr val="tx1"/>
                        </a:solidFill>
                        <a:latin typeface="Helvetica Neue" panose="02000503000000020004"/>
                      </a:endParaRPr>
                    </a:p>
                  </a:txBody>
                  <a:tcPr marT="36576" marB="36576">
                    <a:solidFill>
                      <a:srgbClr val="32D74D"/>
                    </a:solidFill>
                  </a:tcPr>
                </a:tc>
              </a:tr>
              <a:tr h="579120">
                <a:tc>
                  <a:txBody>
                    <a:bodyPr/>
                    <a:lstStyle/>
                    <a:p>
                      <a:pPr algn="l"/>
                      <a:r>
                        <a:rPr sz="1400" b="0">
                          <a:solidFill>
                            <a:srgbClr val="ECEFF4"/>
                          </a:solidFill>
                          <a:latin typeface="Helvetica Neue" panose="02000503000000020004"/>
                        </a:rPr>
                        <a:t>deepseek-coder:6.7b (Ollama, 16 GB)</a:t>
                      </a:r>
                      <a:endParaRPr sz="1400" b="0">
                        <a:solidFill>
                          <a:srgbClr val="ECEFF4"/>
                        </a:solidFill>
                        <a:latin typeface="Helvetica Neue" panose="02000503000000020004"/>
                      </a:endParaRPr>
                    </a:p>
                  </a:txBody>
                  <a:tcPr marT="36576" marB="36576">
                    <a:solidFill>
                      <a:srgbClr val="141A22"/>
                    </a:solidFill>
                  </a:tcPr>
                </a:tc>
                <a:tc>
                  <a:txBody>
                    <a:bodyPr/>
                    <a:lstStyle/>
                    <a:p>
                      <a:pPr algn="l"/>
                      <a:r>
                        <a:rPr sz="1400" b="0">
                          <a:solidFill>
                            <a:srgbClr val="ECEFF4"/>
                          </a:solidFill>
                          <a:latin typeface="Helvetica Neue" panose="02000503000000020004"/>
                        </a:rPr>
                        <a:t>~30 s</a:t>
                      </a:r>
                      <a:endParaRPr sz="1400" b="0">
                        <a:solidFill>
                          <a:srgbClr val="ECEFF4"/>
                        </a:solidFill>
                        <a:latin typeface="Helvetica Neue" panose="02000503000000020004"/>
                      </a:endParaRPr>
                    </a:p>
                  </a:txBody>
                  <a:tcPr marT="36576" marB="36576">
                    <a:solidFill>
                      <a:srgbClr val="141A22"/>
                    </a:solidFill>
                  </a:tcPr>
                </a:tc>
                <a:tc>
                  <a:txBody>
                    <a:bodyPr/>
                    <a:lstStyle/>
                    <a:p>
                      <a:pPr algn="l"/>
                      <a:r>
                        <a:rPr sz="1400" b="0">
                          <a:solidFill>
                            <a:schemeClr val="tx1"/>
                          </a:solidFill>
                          <a:latin typeface="Helvetica Neue" panose="02000503000000020004"/>
                        </a:rPr>
                        <a:t>~3 MINUTES</a:t>
                      </a:r>
                      <a:endParaRPr sz="1400" b="0">
                        <a:solidFill>
                          <a:schemeClr val="tx1"/>
                        </a:solidFill>
                        <a:latin typeface="Helvetica Neue" panose="02000503000000020004"/>
                      </a:endParaRPr>
                    </a:p>
                  </a:txBody>
                  <a:tcPr marT="36576" marB="36576">
                    <a:solidFill>
                      <a:srgbClr val="141A22"/>
                    </a:solidFill>
                  </a:tcPr>
                </a:tc>
                <a:tc>
                  <a:txBody>
                    <a:bodyPr/>
                    <a:lstStyle/>
                    <a:p>
                      <a:pPr algn="l"/>
                      <a:r>
                        <a:rPr sz="1400" b="0">
                          <a:solidFill>
                            <a:schemeClr val="tx1"/>
                          </a:solidFill>
                          <a:latin typeface="Helvetica Neue" panose="02000503000000020004"/>
                        </a:rPr>
                        <a:t>Unusable</a:t>
                      </a:r>
                      <a:endParaRPr sz="1400" b="0">
                        <a:solidFill>
                          <a:schemeClr val="tx1"/>
                        </a:solidFill>
                        <a:latin typeface="Helvetica Neue" panose="02000503000000020004"/>
                      </a:endParaRPr>
                    </a:p>
                  </a:txBody>
                  <a:tcPr marT="36576" marB="36576">
                    <a:solidFill>
                      <a:srgbClr val="FF453A"/>
                    </a:solidFill>
                  </a:tcPr>
                </a:tc>
                <a:tc>
                  <a:txBody>
                    <a:bodyPr/>
                    <a:lstStyle/>
                    <a:p>
                      <a:pPr algn="l"/>
                      <a:r>
                        <a:rPr sz="1400" b="0">
                          <a:solidFill>
                            <a:schemeClr val="tx1"/>
                          </a:solidFill>
                          <a:latin typeface="Helvetica Neue" panose="02000503000000020004"/>
                        </a:rPr>
                        <a:t>CPU</a:t>
                      </a:r>
                      <a:endParaRPr sz="1400" b="0">
                        <a:solidFill>
                          <a:schemeClr val="tx1"/>
                        </a:solidFill>
                        <a:latin typeface="Helvetica Neue" panose="02000503000000020004"/>
                      </a:endParaRPr>
                    </a:p>
                  </a:txBody>
                  <a:tcPr marT="36576" marB="36576">
                    <a:solidFill>
                      <a:srgbClr val="FF453A"/>
                    </a:solidFill>
                  </a:tcPr>
                </a:tc>
              </a:tr>
            </a:tbl>
          </a:graphicData>
        </a:graphic>
      </p:graphicFrame>
      <p:sp>
        <p:nvSpPr>
          <p:cNvPr id="6" name="TextBox 5"/>
          <p:cNvSpPr txBox="1"/>
          <p:nvPr/>
        </p:nvSpPr>
        <p:spPr>
          <a:xfrm>
            <a:off x="274320" y="5486400"/>
            <a:ext cx="11612880" cy="457200"/>
          </a:xfrm>
          <a:prstGeom prst="rect">
            <a:avLst/>
          </a:prstGeom>
          <a:noFill/>
        </p:spPr>
        <p:txBody>
          <a:bodyPr wrap="square" lIns="0" tIns="0" rIns="0" bIns="0">
            <a:spAutoFit/>
          </a:bodyPr>
          <a:lstStyle/>
          <a:p>
            <a:pPr algn="l"/>
            <a:r>
              <a:rPr sz="1700" b="1">
                <a:solidFill>
                  <a:srgbClr val="32D74D"/>
                </a:solidFill>
                <a:latin typeface="Helvetica Neue" panose="02000503000000020004"/>
              </a:rPr>
              <a:t>Small models (≤3B) on Apple Silicon are basically as fast as cloud calls.</a:t>
            </a:r>
            <a:endParaRPr sz="1700" b="1">
              <a:solidFill>
                <a:srgbClr val="32D74D"/>
              </a:solidFill>
              <a:latin typeface="Helvetica Neue" panose="02000503000000020004"/>
            </a:endParaRPr>
          </a:p>
        </p:txBody>
      </p:sp>
      <p:sp>
        <p:nvSpPr>
          <p:cNvPr id="7" name="TextBox 6"/>
          <p:cNvSpPr txBox="1"/>
          <p:nvPr/>
        </p:nvSpPr>
        <p:spPr>
          <a:xfrm>
            <a:off x="274320" y="5989320"/>
            <a:ext cx="11612880" cy="457200"/>
          </a:xfrm>
          <a:prstGeom prst="rect">
            <a:avLst/>
          </a:prstGeom>
          <a:noFill/>
        </p:spPr>
        <p:txBody>
          <a:bodyPr wrap="square" lIns="0" tIns="0" rIns="0" bIns="0">
            <a:spAutoFit/>
          </a:bodyPr>
          <a:lstStyle/>
          <a:p>
            <a:pPr algn="l"/>
            <a:r>
              <a:rPr sz="1700" b="1">
                <a:solidFill>
                  <a:srgbClr val="FF453A"/>
                </a:solidFill>
                <a:latin typeface="Helvetica Neue" panose="02000503000000020004"/>
              </a:rPr>
              <a:t>The 7B model on 16 GB ran for 3 minutes. That's the wall.</a:t>
            </a:r>
            <a:endParaRPr sz="1700" b="1">
              <a:solidFill>
                <a:srgbClr val="FF453A"/>
              </a:solidFill>
              <a:latin typeface="Helvetica Neue" panose="02000503000000020004"/>
            </a:endParaRPr>
          </a:p>
        </p:txBody>
      </p:sp>
      <p:sp>
        <p:nvSpPr>
          <p:cNvPr id="8" name="TextBox 7"/>
          <p:cNvSpPr txBox="1"/>
          <p:nvPr/>
        </p:nvSpPr>
        <p:spPr>
          <a:xfrm>
            <a:off x="548640" y="6492240"/>
            <a:ext cx="10058400" cy="274320"/>
          </a:xfrm>
          <a:prstGeom prst="rect">
            <a:avLst/>
          </a:prstGeom>
          <a:noFill/>
        </p:spPr>
        <p:txBody>
          <a:bodyPr wrap="square" lIns="0" tIns="0" rIns="0" bIns="0">
            <a:spAutoFit/>
          </a:bodyPr>
          <a:lstStyle/>
          <a:p>
            <a:pPr algn="l"/>
            <a:r>
              <a:rPr sz="1000" b="0">
                <a:solidFill>
                  <a:srgbClr val="9AA4B2"/>
                </a:solidFill>
                <a:latin typeface="Helvetica Neue" panose="02000503000000020004"/>
              </a:rPr>
              <a:t>How Much Can On-Device AI Do on a Mac?</a:t>
            </a:r>
            <a:endParaRPr sz="1000" b="0">
              <a:solidFill>
                <a:srgbClr val="9AA4B2"/>
              </a:solidFill>
              <a:latin typeface="Helvetica Neue" panose="02000503000000020004"/>
            </a:endParaRPr>
          </a:p>
        </p:txBody>
      </p:sp>
      <p:sp>
        <p:nvSpPr>
          <p:cNvPr id="9" name="TextBox 8"/>
          <p:cNvSpPr txBox="1"/>
          <p:nvPr/>
        </p:nvSpPr>
        <p:spPr>
          <a:xfrm>
            <a:off x="10698480" y="6492240"/>
            <a:ext cx="914400" cy="274320"/>
          </a:xfrm>
          <a:prstGeom prst="rect">
            <a:avLst/>
          </a:prstGeom>
          <a:noFill/>
        </p:spPr>
        <p:txBody>
          <a:bodyPr wrap="square" lIns="0" tIns="0" rIns="0" bIns="0">
            <a:spAutoFit/>
          </a:bodyPr>
          <a:lstStyle/>
          <a:p>
            <a:pPr algn="r"/>
            <a:r>
              <a:rPr sz="1000" b="0">
                <a:solidFill>
                  <a:srgbClr val="9AA4B2"/>
                </a:solidFill>
                <a:latin typeface="Helvetica Neue" panose="02000503000000020004"/>
              </a:rPr>
              <a:t>3 / 6</a:t>
            </a:r>
            <a:endParaRPr sz="1000" b="0">
              <a:solidFill>
                <a:srgbClr val="9AA4B2"/>
              </a:solidFill>
              <a:latin typeface="Helvetica Neue" panose="02000503000000020004"/>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12191695" cy="6858000"/>
          </a:xfrm>
          <a:prstGeom prst="rect">
            <a:avLst/>
          </a:prstGeom>
          <a:solidFill>
            <a:srgbClr val="0B0F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02920"/>
            <a:ext cx="10972800" cy="731520"/>
          </a:xfrm>
          <a:prstGeom prst="rect">
            <a:avLst/>
          </a:prstGeom>
          <a:noFill/>
        </p:spPr>
        <p:txBody>
          <a:bodyPr wrap="square" lIns="0" tIns="0" rIns="0" bIns="0">
            <a:spAutoFit/>
          </a:bodyPr>
          <a:lstStyle/>
          <a:p>
            <a:pPr algn="l"/>
            <a:r>
              <a:rPr sz="3600" b="1">
                <a:solidFill>
                  <a:srgbClr val="ECEFF4"/>
                </a:solidFill>
                <a:latin typeface="Helvetica Neue" panose="02000503000000020004"/>
              </a:rPr>
              <a:t>Why the cliff? RAM is the wall.</a:t>
            </a:r>
            <a:endParaRPr sz="3600" b="1">
              <a:solidFill>
                <a:srgbClr val="ECEFF4"/>
              </a:solidFill>
              <a:latin typeface="Helvetica Neue" panose="02000503000000020004"/>
            </a:endParaRPr>
          </a:p>
        </p:txBody>
      </p:sp>
      <p:sp>
        <p:nvSpPr>
          <p:cNvPr id="4" name="Rectangle 3"/>
          <p:cNvSpPr/>
          <p:nvPr/>
        </p:nvSpPr>
        <p:spPr>
          <a:xfrm>
            <a:off x="548640" y="1280160"/>
            <a:ext cx="548640" cy="54864"/>
          </a:xfrm>
          <a:prstGeom prst="rect">
            <a:avLst/>
          </a:prstGeom>
          <a:solidFill>
            <a:srgbClr val="FF9F0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828800"/>
            <a:ext cx="10972800" cy="3200400"/>
          </a:xfrm>
          <a:prstGeom prst="rect">
            <a:avLst/>
          </a:prstGeom>
          <a:noFill/>
        </p:spPr>
        <p:txBody>
          <a:bodyPr wrap="square" lIns="0" rIns="0">
            <a:spAutoFit/>
          </a:bodyPr>
          <a:lstStyle/>
          <a:p>
            <a:pPr algn="l">
              <a:spcAft>
                <a:spcPts val="1400"/>
              </a:spcAft>
            </a:pPr>
            <a:r>
              <a:rPr sz="2100">
                <a:solidFill>
                  <a:srgbClr val="ECEFF4"/>
                </a:solidFill>
                <a:latin typeface="Helvetica Neue" panose="02000503000000020004"/>
              </a:rPr>
              <a:t>•  Apple Silicon shares ONE memory pool — CPU, GPU, and Neural Engine</a:t>
            </a:r>
            <a:endParaRPr sz="2100">
              <a:solidFill>
                <a:srgbClr val="ECEFF4"/>
              </a:solidFill>
              <a:latin typeface="Helvetica Neue" panose="02000503000000020004"/>
            </a:endParaRPr>
          </a:p>
          <a:p>
            <a:pPr algn="l">
              <a:spcAft>
                <a:spcPts val="1400"/>
              </a:spcAft>
            </a:pPr>
            <a:r>
              <a:rPr sz="2100">
                <a:solidFill>
                  <a:srgbClr val="ECEFF4"/>
                </a:solidFill>
                <a:latin typeface="Helvetica Neue" panose="02000503000000020004"/>
              </a:rPr>
              <a:t>•  16 GB total · Chrome eats ~6 GB · Slack ~2 · IDE ~3 · Discord ~1</a:t>
            </a:r>
            <a:endParaRPr sz="2100">
              <a:solidFill>
                <a:srgbClr val="ECEFF4"/>
              </a:solidFill>
              <a:latin typeface="Helvetica Neue" panose="02000503000000020004"/>
            </a:endParaRPr>
          </a:p>
          <a:p>
            <a:pPr algn="l">
              <a:spcAft>
                <a:spcPts val="1400"/>
              </a:spcAft>
            </a:pPr>
            <a:r>
              <a:rPr sz="2100">
                <a:solidFill>
                  <a:srgbClr val="ECEFF4"/>
                </a:solidFill>
                <a:latin typeface="Helvetica Neue" panose="02000503000000020004"/>
              </a:rPr>
              <a:t>•  When free RAM drops below the model's size, Ollama silently demotes it to CPU</a:t>
            </a:r>
            <a:endParaRPr sz="2100">
              <a:solidFill>
                <a:srgbClr val="ECEFF4"/>
              </a:solidFill>
              <a:latin typeface="Helvetica Neue" panose="02000503000000020004"/>
            </a:endParaRPr>
          </a:p>
          <a:p>
            <a:pPr algn="l">
              <a:spcAft>
                <a:spcPts val="1400"/>
              </a:spcAft>
            </a:pPr>
            <a:r>
              <a:rPr sz="2100">
                <a:solidFill>
                  <a:srgbClr val="ECEFF4"/>
                </a:solidFill>
                <a:latin typeface="Helvetica Neue" panose="02000503000000020004"/>
              </a:rPr>
              <a:t>•  Same model: 5 seconds on Metal → 3 minutes on CPU. Same hardware.</a:t>
            </a:r>
            <a:endParaRPr sz="2100">
              <a:solidFill>
                <a:srgbClr val="ECEFF4"/>
              </a:solidFill>
              <a:latin typeface="Helvetica Neue" panose="02000503000000020004"/>
            </a:endParaRPr>
          </a:p>
        </p:txBody>
      </p:sp>
      <p:sp>
        <p:nvSpPr>
          <p:cNvPr id="6" name="TextBox 5"/>
          <p:cNvSpPr txBox="1"/>
          <p:nvPr/>
        </p:nvSpPr>
        <p:spPr>
          <a:xfrm>
            <a:off x="640080" y="5486400"/>
            <a:ext cx="10972800" cy="457200"/>
          </a:xfrm>
          <a:prstGeom prst="rect">
            <a:avLst/>
          </a:prstGeom>
          <a:noFill/>
        </p:spPr>
        <p:txBody>
          <a:bodyPr wrap="square" lIns="0" tIns="0" rIns="0" bIns="0">
            <a:spAutoFit/>
          </a:bodyPr>
          <a:lstStyle/>
          <a:p>
            <a:pPr algn="l"/>
            <a:r>
              <a:rPr sz="1800" b="1">
                <a:solidFill>
                  <a:srgbClr val="FF9F0A"/>
                </a:solidFill>
                <a:latin typeface="Helvetica Neue" panose="02000503000000020004"/>
              </a:rPr>
              <a:t>Rule of thumb on 16 GB:  ≤3B = comfortable · 7B = painful · 13B+ = nope.</a:t>
            </a:r>
            <a:endParaRPr sz="1800" b="1">
              <a:solidFill>
                <a:srgbClr val="FF9F0A"/>
              </a:solidFill>
              <a:latin typeface="Helvetica Neue" panose="02000503000000020004"/>
            </a:endParaRPr>
          </a:p>
        </p:txBody>
      </p:sp>
      <p:sp>
        <p:nvSpPr>
          <p:cNvPr id="7" name="TextBox 6"/>
          <p:cNvSpPr txBox="1"/>
          <p:nvPr/>
        </p:nvSpPr>
        <p:spPr>
          <a:xfrm>
            <a:off x="640080" y="6035040"/>
            <a:ext cx="10972800" cy="457200"/>
          </a:xfrm>
          <a:prstGeom prst="rect">
            <a:avLst/>
          </a:prstGeom>
          <a:noFill/>
        </p:spPr>
        <p:txBody>
          <a:bodyPr wrap="square" lIns="0" tIns="0" rIns="0" bIns="0">
            <a:spAutoFit/>
          </a:bodyPr>
          <a:lstStyle/>
          <a:p>
            <a:pPr algn="l"/>
            <a:r>
              <a:rPr sz="1400" b="0">
                <a:solidFill>
                  <a:srgbClr val="9AA4B2"/>
                </a:solidFill>
                <a:latin typeface="Helvetica Neue" panose="02000503000000020004"/>
              </a:rPr>
              <a:t>Always quit Chrome before you benchmark.</a:t>
            </a:r>
            <a:endParaRPr sz="1400" b="0">
              <a:solidFill>
                <a:srgbClr val="9AA4B2"/>
              </a:solidFill>
              <a:latin typeface="Helvetica Neue" panose="02000503000000020004"/>
            </a:endParaRPr>
          </a:p>
        </p:txBody>
      </p:sp>
      <p:sp>
        <p:nvSpPr>
          <p:cNvPr id="8" name="TextBox 7"/>
          <p:cNvSpPr txBox="1"/>
          <p:nvPr/>
        </p:nvSpPr>
        <p:spPr>
          <a:xfrm>
            <a:off x="548640" y="6492240"/>
            <a:ext cx="10058400" cy="274320"/>
          </a:xfrm>
          <a:prstGeom prst="rect">
            <a:avLst/>
          </a:prstGeom>
          <a:noFill/>
        </p:spPr>
        <p:txBody>
          <a:bodyPr wrap="square" lIns="0" tIns="0" rIns="0" bIns="0">
            <a:spAutoFit/>
          </a:bodyPr>
          <a:lstStyle/>
          <a:p>
            <a:pPr algn="l"/>
            <a:r>
              <a:rPr sz="1000" b="0">
                <a:solidFill>
                  <a:srgbClr val="9AA4B2"/>
                </a:solidFill>
                <a:latin typeface="Helvetica Neue" panose="02000503000000020004"/>
              </a:rPr>
              <a:t>How Much Can On-Device AI Do on a Mac?</a:t>
            </a:r>
            <a:endParaRPr sz="1000" b="0">
              <a:solidFill>
                <a:srgbClr val="9AA4B2"/>
              </a:solidFill>
              <a:latin typeface="Helvetica Neue" panose="02000503000000020004"/>
            </a:endParaRPr>
          </a:p>
        </p:txBody>
      </p:sp>
      <p:sp>
        <p:nvSpPr>
          <p:cNvPr id="9" name="TextBox 8"/>
          <p:cNvSpPr txBox="1"/>
          <p:nvPr/>
        </p:nvSpPr>
        <p:spPr>
          <a:xfrm>
            <a:off x="10698480" y="6492240"/>
            <a:ext cx="914400" cy="274320"/>
          </a:xfrm>
          <a:prstGeom prst="rect">
            <a:avLst/>
          </a:prstGeom>
          <a:noFill/>
        </p:spPr>
        <p:txBody>
          <a:bodyPr wrap="square" lIns="0" tIns="0" rIns="0" bIns="0">
            <a:spAutoFit/>
          </a:bodyPr>
          <a:lstStyle/>
          <a:p>
            <a:pPr algn="r"/>
            <a:r>
              <a:rPr sz="1000" b="0">
                <a:solidFill>
                  <a:srgbClr val="9AA4B2"/>
                </a:solidFill>
                <a:latin typeface="Helvetica Neue" panose="02000503000000020004"/>
              </a:rPr>
              <a:t>4 / 6</a:t>
            </a:r>
            <a:endParaRPr sz="1000" b="0">
              <a:solidFill>
                <a:srgbClr val="9AA4B2"/>
              </a:solidFill>
              <a:latin typeface="Helvetica Neue" panose="02000503000000020004"/>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12191695" cy="6858000"/>
          </a:xfrm>
          <a:prstGeom prst="rect">
            <a:avLst/>
          </a:prstGeom>
          <a:solidFill>
            <a:srgbClr val="0B0F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02920"/>
            <a:ext cx="10972800" cy="731520"/>
          </a:xfrm>
          <a:prstGeom prst="rect">
            <a:avLst/>
          </a:prstGeom>
          <a:noFill/>
        </p:spPr>
        <p:txBody>
          <a:bodyPr wrap="square" lIns="0" tIns="0" rIns="0" bIns="0">
            <a:spAutoFit/>
          </a:bodyPr>
          <a:lstStyle/>
          <a:p>
            <a:pPr algn="l"/>
            <a:r>
              <a:rPr sz="3600" b="1">
                <a:solidFill>
                  <a:srgbClr val="ECEFF4"/>
                </a:solidFill>
                <a:latin typeface="Helvetica Neue" panose="02000503000000020004"/>
              </a:rPr>
              <a:t>The 2026 verdict on a 16 GB Mac</a:t>
            </a:r>
            <a:endParaRPr sz="3600" b="1">
              <a:solidFill>
                <a:srgbClr val="ECEFF4"/>
              </a:solidFill>
              <a:latin typeface="Helvetica Neue" panose="02000503000000020004"/>
            </a:endParaRPr>
          </a:p>
        </p:txBody>
      </p:sp>
      <p:sp>
        <p:nvSpPr>
          <p:cNvPr id="4" name="Rectangle 3"/>
          <p:cNvSpPr/>
          <p:nvPr/>
        </p:nvSpPr>
        <p:spPr>
          <a:xfrm>
            <a:off x="548640" y="1280160"/>
            <a:ext cx="548640" cy="54864"/>
          </a:xfrm>
          <a:prstGeom prst="rect">
            <a:avLst/>
          </a:prstGeom>
          <a:solidFill>
            <a:srgbClr val="0A8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783080"/>
            <a:ext cx="7589520" cy="548640"/>
          </a:xfrm>
          <a:prstGeom prst="rect">
            <a:avLst/>
          </a:prstGeom>
          <a:noFill/>
        </p:spPr>
        <p:txBody>
          <a:bodyPr wrap="square" lIns="0" tIns="0" rIns="0" bIns="0">
            <a:spAutoFit/>
          </a:bodyPr>
          <a:lstStyle/>
          <a:p>
            <a:pPr algn="l"/>
            <a:r>
              <a:rPr sz="2000" b="0">
                <a:solidFill>
                  <a:srgbClr val="ECEFF4"/>
                </a:solidFill>
                <a:latin typeface="Helvetica Neue" panose="02000503000000020004"/>
              </a:rPr>
              <a:t>Replace ChatGPT entirely for general chat?</a:t>
            </a:r>
            <a:endParaRPr sz="2000" b="0">
              <a:solidFill>
                <a:srgbClr val="ECEFF4"/>
              </a:solidFill>
              <a:latin typeface="Helvetica Neue" panose="02000503000000020004"/>
            </a:endParaRPr>
          </a:p>
        </p:txBody>
      </p:sp>
      <p:sp>
        <p:nvSpPr>
          <p:cNvPr id="6" name="Rounded Rectangle 5"/>
          <p:cNvSpPr/>
          <p:nvPr/>
        </p:nvSpPr>
        <p:spPr>
          <a:xfrm>
            <a:off x="8412480" y="1819656"/>
            <a:ext cx="3383280" cy="502920"/>
          </a:xfrm>
          <a:prstGeom prst="roundRect">
            <a:avLst>
              <a:gd name="adj" fmla="val 50000"/>
            </a:avLst>
          </a:prstGeom>
          <a:solidFill>
            <a:srgbClr val="FF453A"/>
          </a:solidFill>
          <a:ln>
            <a:noFill/>
          </a:ln>
        </p:spPr>
        <p:style>
          <a:lnRef idx="1">
            <a:schemeClr val="accent1"/>
          </a:lnRef>
          <a:fillRef idx="3">
            <a:schemeClr val="accent1"/>
          </a:fillRef>
          <a:effectRef idx="2">
            <a:schemeClr val="accent1"/>
          </a:effectRef>
          <a:fontRef idx="minor">
            <a:schemeClr val="lt1"/>
          </a:fontRef>
        </p:style>
        <p:txBody>
          <a:bodyPr tIns="0" bIns="0" rtlCol="0" anchor="ctr"/>
          <a:lstStyle/>
          <a:p>
            <a:pPr algn="ctr"/>
            <a:r>
              <a:rPr sz="1500" b="1">
                <a:solidFill>
                  <a:srgbClr val="ECEFF4"/>
                </a:solidFill>
                <a:latin typeface="Helvetica Neue" panose="02000503000000020004"/>
              </a:rPr>
              <a:t>No, not yet</a:t>
            </a:r>
            <a:endParaRPr sz="1500" b="1">
              <a:solidFill>
                <a:srgbClr val="ECEFF4"/>
              </a:solidFill>
              <a:latin typeface="Helvetica Neue" panose="02000503000000020004"/>
            </a:endParaRPr>
          </a:p>
        </p:txBody>
      </p:sp>
      <p:sp>
        <p:nvSpPr>
          <p:cNvPr id="7" name="TextBox 6"/>
          <p:cNvSpPr txBox="1"/>
          <p:nvPr/>
        </p:nvSpPr>
        <p:spPr>
          <a:xfrm>
            <a:off x="640080" y="2560320"/>
            <a:ext cx="7589520" cy="548640"/>
          </a:xfrm>
          <a:prstGeom prst="rect">
            <a:avLst/>
          </a:prstGeom>
          <a:noFill/>
        </p:spPr>
        <p:txBody>
          <a:bodyPr wrap="square" lIns="0" tIns="0" rIns="0" bIns="0">
            <a:spAutoFit/>
          </a:bodyPr>
          <a:lstStyle/>
          <a:p>
            <a:pPr algn="l"/>
            <a:r>
              <a:rPr sz="2000" b="0">
                <a:solidFill>
                  <a:srgbClr val="ECEFF4"/>
                </a:solidFill>
                <a:latin typeface="Helvetica Neue" panose="02000503000000020004"/>
              </a:rPr>
              <a:t>Code completion, specialized small models?</a:t>
            </a:r>
            <a:endParaRPr sz="2000" b="0">
              <a:solidFill>
                <a:srgbClr val="ECEFF4"/>
              </a:solidFill>
              <a:latin typeface="Helvetica Neue" panose="02000503000000020004"/>
            </a:endParaRPr>
          </a:p>
        </p:txBody>
      </p:sp>
      <p:sp>
        <p:nvSpPr>
          <p:cNvPr id="8" name="Rounded Rectangle 7"/>
          <p:cNvSpPr/>
          <p:nvPr/>
        </p:nvSpPr>
        <p:spPr>
          <a:xfrm>
            <a:off x="8412480" y="2596896"/>
            <a:ext cx="3383280" cy="502920"/>
          </a:xfrm>
          <a:prstGeom prst="roundRect">
            <a:avLst>
              <a:gd name="adj" fmla="val 50000"/>
            </a:avLst>
          </a:prstGeom>
          <a:solidFill>
            <a:srgbClr val="32D74D"/>
          </a:solidFill>
          <a:ln>
            <a:noFill/>
          </a:ln>
        </p:spPr>
        <p:style>
          <a:lnRef idx="1">
            <a:schemeClr val="accent1"/>
          </a:lnRef>
          <a:fillRef idx="3">
            <a:schemeClr val="accent1"/>
          </a:fillRef>
          <a:effectRef idx="2">
            <a:schemeClr val="accent1"/>
          </a:effectRef>
          <a:fontRef idx="minor">
            <a:schemeClr val="lt1"/>
          </a:fontRef>
        </p:style>
        <p:txBody>
          <a:bodyPr tIns="0" bIns="0" rtlCol="0" anchor="ctr"/>
          <a:lstStyle/>
          <a:p>
            <a:pPr algn="ctr"/>
            <a:r>
              <a:rPr sz="1500" b="1">
                <a:solidFill>
                  <a:srgbClr val="0B0F14"/>
                </a:solidFill>
                <a:latin typeface="Helvetica Neue" panose="02000503000000020004"/>
              </a:rPr>
              <a:t>Yes — better than cloud</a:t>
            </a:r>
            <a:endParaRPr sz="1500" b="1">
              <a:solidFill>
                <a:srgbClr val="0B0F14"/>
              </a:solidFill>
              <a:latin typeface="Helvetica Neue" panose="02000503000000020004"/>
            </a:endParaRPr>
          </a:p>
        </p:txBody>
      </p:sp>
      <p:sp>
        <p:nvSpPr>
          <p:cNvPr id="9" name="TextBox 8"/>
          <p:cNvSpPr txBox="1"/>
          <p:nvPr/>
        </p:nvSpPr>
        <p:spPr>
          <a:xfrm>
            <a:off x="640080" y="3337560"/>
            <a:ext cx="7589520" cy="548640"/>
          </a:xfrm>
          <a:prstGeom prst="rect">
            <a:avLst/>
          </a:prstGeom>
          <a:noFill/>
        </p:spPr>
        <p:txBody>
          <a:bodyPr wrap="square" lIns="0" tIns="0" rIns="0" bIns="0">
            <a:spAutoFit/>
          </a:bodyPr>
          <a:lstStyle/>
          <a:p>
            <a:pPr algn="l"/>
            <a:r>
              <a:rPr sz="2000" b="0">
                <a:solidFill>
                  <a:srgbClr val="ECEFF4"/>
                </a:solidFill>
                <a:latin typeface="Helvetica Neue" panose="02000503000000020004"/>
              </a:rPr>
              <a:t>Privacy-critical assistant (legal, medical, notes)?</a:t>
            </a:r>
            <a:endParaRPr sz="2000" b="0">
              <a:solidFill>
                <a:srgbClr val="ECEFF4"/>
              </a:solidFill>
              <a:latin typeface="Helvetica Neue" panose="02000503000000020004"/>
            </a:endParaRPr>
          </a:p>
        </p:txBody>
      </p:sp>
      <p:sp>
        <p:nvSpPr>
          <p:cNvPr id="10" name="Rounded Rectangle 9"/>
          <p:cNvSpPr/>
          <p:nvPr/>
        </p:nvSpPr>
        <p:spPr>
          <a:xfrm>
            <a:off x="8412480" y="3374136"/>
            <a:ext cx="3383280" cy="502920"/>
          </a:xfrm>
          <a:prstGeom prst="roundRect">
            <a:avLst>
              <a:gd name="adj" fmla="val 50000"/>
            </a:avLst>
          </a:prstGeom>
          <a:solidFill>
            <a:srgbClr val="32D74D"/>
          </a:solidFill>
          <a:ln>
            <a:noFill/>
          </a:ln>
        </p:spPr>
        <p:style>
          <a:lnRef idx="1">
            <a:schemeClr val="accent1"/>
          </a:lnRef>
          <a:fillRef idx="3">
            <a:schemeClr val="accent1"/>
          </a:fillRef>
          <a:effectRef idx="2">
            <a:schemeClr val="accent1"/>
          </a:effectRef>
          <a:fontRef idx="minor">
            <a:schemeClr val="lt1"/>
          </a:fontRef>
        </p:style>
        <p:txBody>
          <a:bodyPr tIns="0" bIns="0" rtlCol="0" anchor="ctr"/>
          <a:lstStyle/>
          <a:p>
            <a:pPr algn="ctr"/>
            <a:r>
              <a:rPr sz="1500" b="1">
                <a:solidFill>
                  <a:srgbClr val="0B0F14"/>
                </a:solidFill>
                <a:latin typeface="Helvetica Neue" panose="02000503000000020004"/>
              </a:rPr>
              <a:t>Yes — only real option</a:t>
            </a:r>
            <a:endParaRPr sz="1500" b="1">
              <a:solidFill>
                <a:srgbClr val="0B0F14"/>
              </a:solidFill>
              <a:latin typeface="Helvetica Neue" panose="02000503000000020004"/>
            </a:endParaRPr>
          </a:p>
        </p:txBody>
      </p:sp>
      <p:sp>
        <p:nvSpPr>
          <p:cNvPr id="11" name="TextBox 10"/>
          <p:cNvSpPr txBox="1"/>
          <p:nvPr/>
        </p:nvSpPr>
        <p:spPr>
          <a:xfrm>
            <a:off x="640080" y="4114800"/>
            <a:ext cx="7589520" cy="548640"/>
          </a:xfrm>
          <a:prstGeom prst="rect">
            <a:avLst/>
          </a:prstGeom>
          <a:noFill/>
        </p:spPr>
        <p:txBody>
          <a:bodyPr wrap="square" lIns="0" tIns="0" rIns="0" bIns="0">
            <a:spAutoFit/>
          </a:bodyPr>
          <a:lstStyle/>
          <a:p>
            <a:pPr algn="l"/>
            <a:r>
              <a:rPr sz="2000" b="0">
                <a:solidFill>
                  <a:srgbClr val="ECEFF4"/>
                </a:solidFill>
                <a:latin typeface="Helvetica Neue" panose="02000503000000020004"/>
              </a:rPr>
              <a:t>Offline / airplane / no-network use cases?</a:t>
            </a:r>
            <a:endParaRPr sz="2000" b="0">
              <a:solidFill>
                <a:srgbClr val="ECEFF4"/>
              </a:solidFill>
              <a:latin typeface="Helvetica Neue" panose="02000503000000020004"/>
            </a:endParaRPr>
          </a:p>
        </p:txBody>
      </p:sp>
      <p:sp>
        <p:nvSpPr>
          <p:cNvPr id="12" name="Rounded Rectangle 11"/>
          <p:cNvSpPr/>
          <p:nvPr/>
        </p:nvSpPr>
        <p:spPr>
          <a:xfrm>
            <a:off x="8412480" y="4151376"/>
            <a:ext cx="3383280" cy="502920"/>
          </a:xfrm>
          <a:prstGeom prst="roundRect">
            <a:avLst>
              <a:gd name="adj" fmla="val 50000"/>
            </a:avLst>
          </a:prstGeom>
          <a:solidFill>
            <a:srgbClr val="32D74D"/>
          </a:solidFill>
          <a:ln>
            <a:noFill/>
          </a:ln>
        </p:spPr>
        <p:style>
          <a:lnRef idx="1">
            <a:schemeClr val="accent1"/>
          </a:lnRef>
          <a:fillRef idx="3">
            <a:schemeClr val="accent1"/>
          </a:fillRef>
          <a:effectRef idx="2">
            <a:schemeClr val="accent1"/>
          </a:effectRef>
          <a:fontRef idx="minor">
            <a:schemeClr val="lt1"/>
          </a:fontRef>
        </p:style>
        <p:txBody>
          <a:bodyPr tIns="0" bIns="0" rtlCol="0" anchor="ctr"/>
          <a:lstStyle/>
          <a:p>
            <a:pPr algn="ctr"/>
            <a:r>
              <a:rPr sz="1500" b="1">
                <a:solidFill>
                  <a:srgbClr val="0B0F14"/>
                </a:solidFill>
                <a:latin typeface="Helvetica Neue" panose="02000503000000020004"/>
              </a:rPr>
              <a:t>Yes — finally usable</a:t>
            </a:r>
            <a:endParaRPr sz="1500" b="1">
              <a:solidFill>
                <a:srgbClr val="0B0F14"/>
              </a:solidFill>
              <a:latin typeface="Helvetica Neue" panose="02000503000000020004"/>
            </a:endParaRPr>
          </a:p>
        </p:txBody>
      </p:sp>
      <p:sp>
        <p:nvSpPr>
          <p:cNvPr id="13" name="TextBox 12"/>
          <p:cNvSpPr txBox="1"/>
          <p:nvPr/>
        </p:nvSpPr>
        <p:spPr>
          <a:xfrm>
            <a:off x="640080" y="4892040"/>
            <a:ext cx="7589520" cy="548640"/>
          </a:xfrm>
          <a:prstGeom prst="rect">
            <a:avLst/>
          </a:prstGeom>
          <a:noFill/>
        </p:spPr>
        <p:txBody>
          <a:bodyPr wrap="square" lIns="0" tIns="0" rIns="0" bIns="0">
            <a:spAutoFit/>
          </a:bodyPr>
          <a:lstStyle/>
          <a:p>
            <a:pPr algn="l"/>
            <a:r>
              <a:rPr sz="2000" b="0">
                <a:solidFill>
                  <a:srgbClr val="ECEFF4"/>
                </a:solidFill>
                <a:latin typeface="Helvetica Neue" panose="02000503000000020004"/>
              </a:rPr>
              <a:t>Long documents, complex multi-step reasoning?</a:t>
            </a:r>
            <a:endParaRPr sz="2000" b="0">
              <a:solidFill>
                <a:srgbClr val="ECEFF4"/>
              </a:solidFill>
              <a:latin typeface="Helvetica Neue" panose="02000503000000020004"/>
            </a:endParaRPr>
          </a:p>
        </p:txBody>
      </p:sp>
      <p:sp>
        <p:nvSpPr>
          <p:cNvPr id="14" name="Rounded Rectangle 13"/>
          <p:cNvSpPr/>
          <p:nvPr/>
        </p:nvSpPr>
        <p:spPr>
          <a:xfrm>
            <a:off x="8412480" y="4928616"/>
            <a:ext cx="3383280" cy="502920"/>
          </a:xfrm>
          <a:prstGeom prst="roundRect">
            <a:avLst>
              <a:gd name="adj" fmla="val 50000"/>
            </a:avLst>
          </a:prstGeom>
          <a:solidFill>
            <a:srgbClr val="FFD60A"/>
          </a:solidFill>
          <a:ln>
            <a:noFill/>
          </a:ln>
        </p:spPr>
        <p:style>
          <a:lnRef idx="1">
            <a:schemeClr val="accent1"/>
          </a:lnRef>
          <a:fillRef idx="3">
            <a:schemeClr val="accent1"/>
          </a:fillRef>
          <a:effectRef idx="2">
            <a:schemeClr val="accent1"/>
          </a:effectRef>
          <a:fontRef idx="minor">
            <a:schemeClr val="lt1"/>
          </a:fontRef>
        </p:style>
        <p:txBody>
          <a:bodyPr tIns="0" bIns="0" rtlCol="0" anchor="ctr"/>
          <a:lstStyle/>
          <a:p>
            <a:pPr algn="ctr"/>
            <a:r>
              <a:rPr sz="1500" b="1">
                <a:solidFill>
                  <a:srgbClr val="0B0F14"/>
                </a:solidFill>
                <a:latin typeface="Helvetica Neue" panose="02000503000000020004"/>
              </a:rPr>
              <a:t>Cloud or PCC for now</a:t>
            </a:r>
            <a:endParaRPr sz="1500" b="1">
              <a:solidFill>
                <a:srgbClr val="0B0F14"/>
              </a:solidFill>
              <a:latin typeface="Helvetica Neue" panose="02000503000000020004"/>
            </a:endParaRPr>
          </a:p>
        </p:txBody>
      </p:sp>
      <p:sp>
        <p:nvSpPr>
          <p:cNvPr id="15" name="TextBox 14"/>
          <p:cNvSpPr txBox="1"/>
          <p:nvPr/>
        </p:nvSpPr>
        <p:spPr>
          <a:xfrm>
            <a:off x="548640" y="6492240"/>
            <a:ext cx="10058400" cy="274320"/>
          </a:xfrm>
          <a:prstGeom prst="rect">
            <a:avLst/>
          </a:prstGeom>
          <a:noFill/>
        </p:spPr>
        <p:txBody>
          <a:bodyPr wrap="square" lIns="0" tIns="0" rIns="0" bIns="0">
            <a:spAutoFit/>
          </a:bodyPr>
          <a:lstStyle/>
          <a:p>
            <a:pPr algn="l"/>
            <a:r>
              <a:rPr sz="1000" b="0">
                <a:solidFill>
                  <a:srgbClr val="9AA4B2"/>
                </a:solidFill>
                <a:latin typeface="Helvetica Neue" panose="02000503000000020004"/>
              </a:rPr>
              <a:t>How Much Can On-Device AI Do on a Mac?</a:t>
            </a:r>
            <a:endParaRPr sz="1000" b="0">
              <a:solidFill>
                <a:srgbClr val="9AA4B2"/>
              </a:solidFill>
              <a:latin typeface="Helvetica Neue" panose="02000503000000020004"/>
            </a:endParaRPr>
          </a:p>
        </p:txBody>
      </p:sp>
      <p:sp>
        <p:nvSpPr>
          <p:cNvPr id="16" name="TextBox 15"/>
          <p:cNvSpPr txBox="1"/>
          <p:nvPr/>
        </p:nvSpPr>
        <p:spPr>
          <a:xfrm>
            <a:off x="10698480" y="6492240"/>
            <a:ext cx="914400" cy="274320"/>
          </a:xfrm>
          <a:prstGeom prst="rect">
            <a:avLst/>
          </a:prstGeom>
          <a:noFill/>
        </p:spPr>
        <p:txBody>
          <a:bodyPr wrap="square" lIns="0" tIns="0" rIns="0" bIns="0">
            <a:spAutoFit/>
          </a:bodyPr>
          <a:lstStyle/>
          <a:p>
            <a:pPr algn="r"/>
            <a:r>
              <a:rPr sz="1000" b="0">
                <a:solidFill>
                  <a:srgbClr val="9AA4B2"/>
                </a:solidFill>
                <a:latin typeface="Helvetica Neue" panose="02000503000000020004"/>
              </a:rPr>
              <a:t>5 / 6</a:t>
            </a:r>
            <a:endParaRPr sz="1000" b="0">
              <a:solidFill>
                <a:srgbClr val="9AA4B2"/>
              </a:solidFill>
              <a:latin typeface="Helvetica Neue" panose="02000503000000020004"/>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12191695" cy="6858000"/>
          </a:xfrm>
          <a:prstGeom prst="rect">
            <a:avLst/>
          </a:prstGeom>
          <a:solidFill>
            <a:srgbClr val="0B0F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02920"/>
            <a:ext cx="10972800" cy="731520"/>
          </a:xfrm>
          <a:prstGeom prst="rect">
            <a:avLst/>
          </a:prstGeom>
          <a:noFill/>
        </p:spPr>
        <p:txBody>
          <a:bodyPr wrap="square" lIns="0" tIns="0" rIns="0" bIns="0">
            <a:spAutoFit/>
          </a:bodyPr>
          <a:lstStyle/>
          <a:p>
            <a:pPr algn="l"/>
            <a:r>
              <a:rPr sz="3600" b="1">
                <a:solidFill>
                  <a:srgbClr val="ECEFF4"/>
                </a:solidFill>
                <a:latin typeface="Helvetica Neue" panose="02000503000000020004"/>
              </a:rPr>
              <a:t>The takeaway</a:t>
            </a:r>
            <a:endParaRPr sz="3600" b="1">
              <a:solidFill>
                <a:srgbClr val="ECEFF4"/>
              </a:solidFill>
              <a:latin typeface="Helvetica Neue" panose="02000503000000020004"/>
            </a:endParaRPr>
          </a:p>
        </p:txBody>
      </p:sp>
      <p:sp>
        <p:nvSpPr>
          <p:cNvPr id="4" name="Rectangle 3"/>
          <p:cNvSpPr/>
          <p:nvPr/>
        </p:nvSpPr>
        <p:spPr>
          <a:xfrm>
            <a:off x="548640" y="1280160"/>
            <a:ext cx="548640" cy="54864"/>
          </a:xfrm>
          <a:prstGeom prst="rect">
            <a:avLst/>
          </a:prstGeom>
          <a:solidFill>
            <a:srgbClr val="0A8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645920"/>
            <a:ext cx="10972800" cy="1983740"/>
          </a:xfrm>
          <a:prstGeom prst="rect">
            <a:avLst/>
          </a:prstGeom>
          <a:noFill/>
        </p:spPr>
        <p:txBody>
          <a:bodyPr wrap="square" lIns="0" rIns="0">
            <a:spAutoFit/>
          </a:bodyPr>
          <a:lstStyle/>
          <a:p>
            <a:pPr algn="l">
              <a:spcAft>
                <a:spcPts val="1400"/>
              </a:spcAft>
            </a:pPr>
            <a:r>
              <a:rPr sz="2200">
                <a:solidFill>
                  <a:srgbClr val="ECEFF4"/>
                </a:solidFill>
                <a:latin typeface="Helvetica Neue" panose="02000503000000020004"/>
              </a:rPr>
              <a:t>•  On a 16 GB Mac, ≤3B models are FAST and usable for the right tasks</a:t>
            </a:r>
            <a:endParaRPr sz="2200">
              <a:solidFill>
                <a:srgbClr val="ECEFF4"/>
              </a:solidFill>
              <a:latin typeface="Helvetica Neue" panose="02000503000000020004"/>
            </a:endParaRPr>
          </a:p>
          <a:p>
            <a:pPr algn="l">
              <a:spcAft>
                <a:spcPts val="1400"/>
              </a:spcAft>
            </a:pPr>
            <a:r>
              <a:rPr sz="2200">
                <a:solidFill>
                  <a:srgbClr val="ECEFF4"/>
                </a:solidFill>
                <a:latin typeface="Helvetica Neue" panose="02000503000000020004"/>
              </a:rPr>
              <a:t>•  RAM is the wall, not the model — bigger models silently fall back to CPU</a:t>
            </a:r>
            <a:endParaRPr sz="2200">
              <a:solidFill>
                <a:srgbClr val="ECEFF4"/>
              </a:solidFill>
              <a:latin typeface="Helvetica Neue" panose="02000503000000020004"/>
            </a:endParaRPr>
          </a:p>
          <a:p>
            <a:pPr algn="l">
              <a:spcAft>
                <a:spcPts val="1400"/>
              </a:spcAft>
            </a:pPr>
            <a:r>
              <a:rPr sz="2200">
                <a:solidFill>
                  <a:srgbClr val="ECEFF4"/>
                </a:solidFill>
                <a:latin typeface="Helvetica Neue" panose="02000503000000020004"/>
              </a:rPr>
              <a:t>•  Hybrid (small on-device + cloud / PCC fallback) is the realistic architecture</a:t>
            </a:r>
            <a:endParaRPr sz="2200">
              <a:solidFill>
                <a:srgbClr val="ECEFF4"/>
              </a:solidFill>
              <a:latin typeface="Helvetica Neue" panose="02000503000000020004"/>
            </a:endParaRPr>
          </a:p>
          <a:p>
            <a:pPr algn="l">
              <a:spcAft>
                <a:spcPts val="1400"/>
              </a:spcAft>
            </a:pPr>
            <a:r>
              <a:rPr sz="2200">
                <a:solidFill>
                  <a:srgbClr val="ECEFF4"/>
                </a:solidFill>
                <a:latin typeface="Helvetica Neue" panose="02000503000000020004"/>
              </a:rPr>
              <a:t>•  Don't trust demos on 96 GB Macs — test on the machine you own</a:t>
            </a:r>
            <a:endParaRPr sz="2200">
              <a:solidFill>
                <a:srgbClr val="ECEFF4"/>
              </a:solidFill>
              <a:latin typeface="Helvetica Neue" panose="02000503000000020004"/>
            </a:endParaRPr>
          </a:p>
        </p:txBody>
      </p:sp>
      <p:sp>
        <p:nvSpPr>
          <p:cNvPr id="6" name="TextBox 5"/>
          <p:cNvSpPr txBox="1"/>
          <p:nvPr/>
        </p:nvSpPr>
        <p:spPr>
          <a:xfrm>
            <a:off x="548640" y="5212080"/>
            <a:ext cx="10972800" cy="822960"/>
          </a:xfrm>
          <a:prstGeom prst="rect">
            <a:avLst/>
          </a:prstGeom>
          <a:noFill/>
        </p:spPr>
        <p:txBody>
          <a:bodyPr wrap="square" lIns="0" tIns="0" rIns="0" bIns="0">
            <a:spAutoFit/>
          </a:bodyPr>
          <a:lstStyle/>
          <a:p>
            <a:pPr algn="l"/>
            <a:r>
              <a:rPr sz="5200" b="1">
                <a:solidFill>
                  <a:srgbClr val="0A84FF"/>
                </a:solidFill>
                <a:latin typeface="Helvetica Neue" panose="02000503000000020004"/>
              </a:rPr>
              <a:t>Questions?</a:t>
            </a:r>
            <a:endParaRPr sz="5200" b="1">
              <a:solidFill>
                <a:srgbClr val="0A84FF"/>
              </a:solidFill>
              <a:latin typeface="Helvetica Neue" panose="02000503000000020004"/>
            </a:endParaRPr>
          </a:p>
        </p:txBody>
      </p:sp>
      <p:sp>
        <p:nvSpPr>
          <p:cNvPr id="7" name="TextBox 6"/>
          <p:cNvSpPr txBox="1"/>
          <p:nvPr/>
        </p:nvSpPr>
        <p:spPr>
          <a:xfrm>
            <a:off x="548640" y="6126480"/>
            <a:ext cx="10972800" cy="215265"/>
          </a:xfrm>
          <a:prstGeom prst="rect">
            <a:avLst/>
          </a:prstGeom>
          <a:noFill/>
        </p:spPr>
        <p:txBody>
          <a:bodyPr wrap="square" lIns="0" tIns="0" rIns="0" bIns="0">
            <a:spAutoFit/>
          </a:bodyPr>
          <a:lstStyle/>
          <a:p>
            <a:pPr algn="l"/>
            <a:r>
              <a:rPr sz="1400" b="0">
                <a:solidFill>
                  <a:srgbClr val="9AA4B2"/>
                </a:solidFill>
                <a:latin typeface="Helvetica Neue" panose="02000503000000020004"/>
              </a:rPr>
              <a:t>Demo IDE: </a:t>
            </a:r>
            <a:r>
              <a:rPr lang="en-US" altLang="en-US" sz="1400" b="0">
                <a:solidFill>
                  <a:srgbClr val="9AA4B2"/>
                </a:solidFill>
                <a:latin typeface="Helvetica Neue" panose="02000503000000020004"/>
              </a:rPr>
              <a:t>https://github.com/Xavierhuang/CoreAI</a:t>
            </a:r>
            <a:endParaRPr lang="en-US" altLang="en-US" sz="1400" b="0">
              <a:solidFill>
                <a:srgbClr val="9AA4B2"/>
              </a:solidFill>
              <a:latin typeface="Helvetica Neue" panose="02000503000000020004"/>
            </a:endParaRPr>
          </a:p>
        </p:txBody>
      </p:sp>
      <p:sp>
        <p:nvSpPr>
          <p:cNvPr id="8" name="TextBox 7"/>
          <p:cNvSpPr txBox="1"/>
          <p:nvPr/>
        </p:nvSpPr>
        <p:spPr>
          <a:xfrm>
            <a:off x="548640" y="6463030"/>
            <a:ext cx="10058400" cy="274320"/>
          </a:xfrm>
          <a:prstGeom prst="rect">
            <a:avLst/>
          </a:prstGeom>
          <a:noFill/>
        </p:spPr>
        <p:txBody>
          <a:bodyPr wrap="square" lIns="0" tIns="0" rIns="0" bIns="0">
            <a:spAutoFit/>
          </a:bodyPr>
          <a:lstStyle/>
          <a:p>
            <a:pPr algn="l"/>
            <a:r>
              <a:rPr sz="1000" b="0">
                <a:solidFill>
                  <a:srgbClr val="9AA4B2"/>
                </a:solidFill>
                <a:latin typeface="Helvetica Neue" panose="02000503000000020004"/>
              </a:rPr>
              <a:t>How Much Can On-Device AI Do on a Mac?</a:t>
            </a:r>
            <a:endParaRPr sz="1000" b="0">
              <a:solidFill>
                <a:srgbClr val="9AA4B2"/>
              </a:solidFill>
              <a:latin typeface="Helvetica Neue" panose="02000503000000020004"/>
            </a:endParaRPr>
          </a:p>
        </p:txBody>
      </p:sp>
      <p:sp>
        <p:nvSpPr>
          <p:cNvPr id="9" name="TextBox 8"/>
          <p:cNvSpPr txBox="1"/>
          <p:nvPr/>
        </p:nvSpPr>
        <p:spPr>
          <a:xfrm>
            <a:off x="10698480" y="6492240"/>
            <a:ext cx="914400" cy="274320"/>
          </a:xfrm>
          <a:prstGeom prst="rect">
            <a:avLst/>
          </a:prstGeom>
          <a:noFill/>
        </p:spPr>
        <p:txBody>
          <a:bodyPr wrap="square" lIns="0" tIns="0" rIns="0" bIns="0">
            <a:spAutoFit/>
          </a:bodyPr>
          <a:lstStyle/>
          <a:p>
            <a:pPr algn="r"/>
            <a:r>
              <a:rPr sz="1000" b="0">
                <a:solidFill>
                  <a:srgbClr val="9AA4B2"/>
                </a:solidFill>
                <a:latin typeface="Helvetica Neue" panose="02000503000000020004"/>
              </a:rPr>
              <a:t>6 / 6</a:t>
            </a:r>
            <a:endParaRPr sz="1000" b="0">
              <a:solidFill>
                <a:srgbClr val="9AA4B2"/>
              </a:solidFill>
              <a:latin typeface="Helvetica Neue" panose="02000503000000020004"/>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2260</Words>
  <Application>WPS Presentation</Application>
  <PresentationFormat>On-screen Show (4:3)</PresentationFormat>
  <Paragraphs>149</Paragraphs>
  <Slides>6</Slides>
  <Notes>0</Notes>
  <HiddenSlides>0</HiddenSlides>
  <MMClips>0</MMClips>
  <ScaleCrop>false</ScaleCrop>
  <HeadingPairs>
    <vt:vector size="6" baseType="variant">
      <vt:variant>
        <vt:lpstr>已用的字体</vt:lpstr>
      </vt:variant>
      <vt:variant>
        <vt:i4>11</vt:i4>
      </vt:variant>
      <vt:variant>
        <vt:lpstr>主题</vt:lpstr>
      </vt:variant>
      <vt:variant>
        <vt:i4>1</vt:i4>
      </vt:variant>
      <vt:variant>
        <vt:lpstr>幻灯片标题</vt:lpstr>
      </vt:variant>
      <vt:variant>
        <vt:i4>6</vt:i4>
      </vt:variant>
    </vt:vector>
  </HeadingPairs>
  <TitlesOfParts>
    <vt:vector size="18" baseType="lpstr">
      <vt:lpstr>Arial</vt:lpstr>
      <vt:lpstr>SimSun</vt:lpstr>
      <vt:lpstr>Wingdings</vt:lpstr>
      <vt:lpstr>Arial</vt:lpstr>
      <vt:lpstr>Helvetica Neue</vt:lpstr>
      <vt:lpstr>Calibri</vt:lpstr>
      <vt:lpstr>Helvetica Neue</vt:lpstr>
      <vt:lpstr>Microsoft YaHei</vt:lpstr>
      <vt:lpstr>汉仪旗黑</vt:lpstr>
      <vt:lpstr>Arial Unicode MS</vt:lpstr>
      <vt:lpstr>宋体-简</vt:lpstr>
      <vt:lpstr>Office Theme</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dc:description>generated using python-pptx</dc:description>
  <cp:lastModifiedBy>Xavier Huang</cp:lastModifiedBy>
  <cp:revision>3</cp:revision>
  <dcterms:created xsi:type="dcterms:W3CDTF">2026-06-23T20:44:15Z</dcterms:created>
  <dcterms:modified xsi:type="dcterms:W3CDTF">2026-06-23T20:44:15Z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B167E74605F654A198EF3A6AC1C3BCA3_42</vt:lpwstr>
  </property>
  <property fmtid="{D5CDD505-2E9C-101B-9397-08002B2CF9AE}" pid="3" name="KSOProductBuildVer">
    <vt:lpwstr>1033-12.1.23152.23152</vt:lpwstr>
  </property>
</Properties>
</file>